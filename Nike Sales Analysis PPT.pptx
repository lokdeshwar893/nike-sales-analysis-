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9"/>
  </p:notesMasterIdLst>
  <p:handoutMasterIdLst>
    <p:handoutMasterId r:id="rId20"/>
  </p:handoutMasterIdLst>
  <p:sldIdLst>
    <p:sldId id="410" r:id="rId5"/>
    <p:sldId id="383" r:id="rId6"/>
    <p:sldId id="409" r:id="rId7"/>
    <p:sldId id="389" r:id="rId8"/>
    <p:sldId id="391" r:id="rId9"/>
    <p:sldId id="397" r:id="rId10"/>
    <p:sldId id="408" r:id="rId11"/>
    <p:sldId id="406" r:id="rId12"/>
    <p:sldId id="405" r:id="rId13"/>
    <p:sldId id="404" r:id="rId14"/>
    <p:sldId id="403" r:id="rId15"/>
    <p:sldId id="398" r:id="rId16"/>
    <p:sldId id="411" r:id="rId17"/>
    <p:sldId id="41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autoAdjust="0"/>
  </p:normalViewPr>
  <p:slideViewPr>
    <p:cSldViewPr snapToGrid="0">
      <p:cViewPr varScale="1">
        <p:scale>
          <a:sx n="66" d="100"/>
          <a:sy n="66" d="100"/>
        </p:scale>
        <p:origin x="668"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6DB8C8-8D1B-457F-8CE5-7CFAA0081100}" type="doc">
      <dgm:prSet loTypeId="urn:microsoft.com/office/officeart/2005/8/layout/process5" loCatId="process" qsTypeId="urn:microsoft.com/office/officeart/2005/8/quickstyle/3d2" qsCatId="3D" csTypeId="urn:microsoft.com/office/officeart/2005/8/colors/accent3_2" csCatId="accent3" phldr="1"/>
      <dgm:spPr/>
      <dgm:t>
        <a:bodyPr/>
        <a:lstStyle/>
        <a:p>
          <a:endParaRPr lang="en-IN"/>
        </a:p>
      </dgm:t>
    </dgm:pt>
    <dgm:pt modelId="{430DE875-B4F1-49B3-B1D9-DBF8962D009D}">
      <dgm:prSet phldrT="[Text]"/>
      <dgm:spPr/>
      <dgm:t>
        <a:bodyPr/>
        <a:lstStyle/>
        <a:p>
          <a:r>
            <a:rPr lang="en-US" b="1" dirty="0"/>
            <a:t>Data Collection : </a:t>
          </a:r>
          <a:r>
            <a:rPr lang="en-US" dirty="0"/>
            <a:t>Kaggle sales dataset </a:t>
          </a:r>
          <a:endParaRPr lang="en-IN" dirty="0"/>
        </a:p>
      </dgm:t>
    </dgm:pt>
    <dgm:pt modelId="{5B0F561B-254B-4FB4-8DE5-836B1FAADEAA}" type="parTrans" cxnId="{DE5149E3-B1C2-47F7-94FB-21DF4C351861}">
      <dgm:prSet/>
      <dgm:spPr/>
      <dgm:t>
        <a:bodyPr/>
        <a:lstStyle/>
        <a:p>
          <a:endParaRPr lang="en-IN"/>
        </a:p>
      </dgm:t>
    </dgm:pt>
    <dgm:pt modelId="{D361EA61-B1D3-46A2-B547-31A336B50A52}" type="sibTrans" cxnId="{DE5149E3-B1C2-47F7-94FB-21DF4C351861}">
      <dgm:prSet/>
      <dgm:spPr/>
      <dgm:t>
        <a:bodyPr/>
        <a:lstStyle/>
        <a:p>
          <a:endParaRPr lang="en-IN"/>
        </a:p>
      </dgm:t>
    </dgm:pt>
    <dgm:pt modelId="{E5717A89-5208-4AFF-A158-95E9C86C6AEB}">
      <dgm:prSet phldrT="[Text]"/>
      <dgm:spPr/>
      <dgm:t>
        <a:bodyPr/>
        <a:lstStyle/>
        <a:p>
          <a:r>
            <a:rPr lang="en-US" b="1" dirty="0"/>
            <a:t>Data Understanding </a:t>
          </a:r>
          <a:r>
            <a:rPr lang="en-US" dirty="0"/>
            <a:t>: Analyzed 50K+ records </a:t>
          </a:r>
          <a:endParaRPr lang="en-IN" dirty="0"/>
        </a:p>
      </dgm:t>
    </dgm:pt>
    <dgm:pt modelId="{12691638-C2E6-4DD8-80F3-D0F893ACD082}" type="parTrans" cxnId="{AF84084F-9963-442E-9FBC-8914D09023A0}">
      <dgm:prSet/>
      <dgm:spPr/>
      <dgm:t>
        <a:bodyPr/>
        <a:lstStyle/>
        <a:p>
          <a:endParaRPr lang="en-IN"/>
        </a:p>
      </dgm:t>
    </dgm:pt>
    <dgm:pt modelId="{AFDC2F65-965C-4397-9092-DE0614916467}" type="sibTrans" cxnId="{AF84084F-9963-442E-9FBC-8914D09023A0}">
      <dgm:prSet/>
      <dgm:spPr/>
      <dgm:t>
        <a:bodyPr/>
        <a:lstStyle/>
        <a:p>
          <a:endParaRPr lang="en-IN"/>
        </a:p>
      </dgm:t>
    </dgm:pt>
    <dgm:pt modelId="{C5DF56DE-C2A0-4873-AB16-AAC17F710587}">
      <dgm:prSet phldrT="[Text]"/>
      <dgm:spPr/>
      <dgm:t>
        <a:bodyPr/>
        <a:lstStyle/>
        <a:p>
          <a:r>
            <a:rPr lang="en-US" b="1" dirty="0"/>
            <a:t>Data Exploration </a:t>
          </a:r>
          <a:r>
            <a:rPr lang="en-US" dirty="0"/>
            <a:t>: Checked nulls, outliers, distributions </a:t>
          </a:r>
          <a:endParaRPr lang="en-IN" dirty="0"/>
        </a:p>
      </dgm:t>
    </dgm:pt>
    <dgm:pt modelId="{1766A10A-30CE-44DD-93A5-C791FBFA9F68}" type="parTrans" cxnId="{570231F8-F832-4DE0-B49A-C6F532C801E5}">
      <dgm:prSet/>
      <dgm:spPr/>
      <dgm:t>
        <a:bodyPr/>
        <a:lstStyle/>
        <a:p>
          <a:endParaRPr lang="en-IN"/>
        </a:p>
      </dgm:t>
    </dgm:pt>
    <dgm:pt modelId="{10520751-C2B5-454F-992D-361170BE3DA9}" type="sibTrans" cxnId="{570231F8-F832-4DE0-B49A-C6F532C801E5}">
      <dgm:prSet/>
      <dgm:spPr/>
      <dgm:t>
        <a:bodyPr/>
        <a:lstStyle/>
        <a:p>
          <a:endParaRPr lang="en-IN"/>
        </a:p>
      </dgm:t>
    </dgm:pt>
    <dgm:pt modelId="{8914A7AB-3F6A-476B-A053-DE54A97346B6}">
      <dgm:prSet phldrT="[Text]"/>
      <dgm:spPr/>
      <dgm:t>
        <a:bodyPr/>
        <a:lstStyle/>
        <a:p>
          <a:r>
            <a:rPr lang="en-US" b="1" dirty="0"/>
            <a:t>Data Cleaning : </a:t>
          </a:r>
          <a:r>
            <a:rPr lang="en-US" dirty="0"/>
            <a:t>Removed 2% incorrect data </a:t>
          </a:r>
          <a:endParaRPr lang="en-IN" dirty="0"/>
        </a:p>
      </dgm:t>
    </dgm:pt>
    <dgm:pt modelId="{B0B857AE-3F78-4B3E-A3CA-037C77F52F8F}" type="parTrans" cxnId="{A73D1636-8D59-4359-A2AE-4EBFBCB42232}">
      <dgm:prSet/>
      <dgm:spPr/>
      <dgm:t>
        <a:bodyPr/>
        <a:lstStyle/>
        <a:p>
          <a:endParaRPr lang="en-IN"/>
        </a:p>
      </dgm:t>
    </dgm:pt>
    <dgm:pt modelId="{79ECBB3F-EB8B-4675-B614-CD84B7B77688}" type="sibTrans" cxnId="{A73D1636-8D59-4359-A2AE-4EBFBCB42232}">
      <dgm:prSet/>
      <dgm:spPr/>
      <dgm:t>
        <a:bodyPr/>
        <a:lstStyle/>
        <a:p>
          <a:endParaRPr lang="en-IN"/>
        </a:p>
      </dgm:t>
    </dgm:pt>
    <dgm:pt modelId="{E5955FB2-F786-4A5D-84DF-8C2B43CE115D}">
      <dgm:prSet phldrT="[Text]"/>
      <dgm:spPr/>
      <dgm:t>
        <a:bodyPr/>
        <a:lstStyle/>
        <a:p>
          <a:r>
            <a:rPr lang="en-US" b="1" dirty="0"/>
            <a:t>Visualization &amp; Insights </a:t>
          </a:r>
          <a:r>
            <a:rPr lang="en-US" dirty="0"/>
            <a:t>: Charts for sales trends, top products, regions, peak months</a:t>
          </a:r>
          <a:endParaRPr lang="en-IN" dirty="0"/>
        </a:p>
      </dgm:t>
    </dgm:pt>
    <dgm:pt modelId="{C4DC64B9-C8A3-44B1-B467-B6E1FDCB2681}" type="parTrans" cxnId="{D5F5F12B-0370-486F-B220-253F79F38BE1}">
      <dgm:prSet/>
      <dgm:spPr/>
      <dgm:t>
        <a:bodyPr/>
        <a:lstStyle/>
        <a:p>
          <a:endParaRPr lang="en-IN"/>
        </a:p>
      </dgm:t>
    </dgm:pt>
    <dgm:pt modelId="{6D501EB1-4698-4861-8AC8-4D47A1906C12}" type="sibTrans" cxnId="{D5F5F12B-0370-486F-B220-253F79F38BE1}">
      <dgm:prSet/>
      <dgm:spPr/>
      <dgm:t>
        <a:bodyPr/>
        <a:lstStyle/>
        <a:p>
          <a:endParaRPr lang="en-IN"/>
        </a:p>
      </dgm:t>
    </dgm:pt>
    <dgm:pt modelId="{715AD00F-6552-4AE7-8721-3179E0D054C7}" type="pres">
      <dgm:prSet presAssocID="{D96DB8C8-8D1B-457F-8CE5-7CFAA0081100}" presName="diagram" presStyleCnt="0">
        <dgm:presLayoutVars>
          <dgm:dir/>
          <dgm:resizeHandles val="exact"/>
        </dgm:presLayoutVars>
      </dgm:prSet>
      <dgm:spPr/>
    </dgm:pt>
    <dgm:pt modelId="{F5EE7EA5-1188-4C94-B8B4-1C44CD1491BA}" type="pres">
      <dgm:prSet presAssocID="{430DE875-B4F1-49B3-B1D9-DBF8962D009D}" presName="node" presStyleLbl="node1" presStyleIdx="0" presStyleCnt="5" custScaleY="71370">
        <dgm:presLayoutVars>
          <dgm:bulletEnabled val="1"/>
        </dgm:presLayoutVars>
      </dgm:prSet>
      <dgm:spPr/>
    </dgm:pt>
    <dgm:pt modelId="{EF3A4376-D61B-4F4C-8ED1-A564E16747DB}" type="pres">
      <dgm:prSet presAssocID="{D361EA61-B1D3-46A2-B547-31A336B50A52}" presName="sibTrans" presStyleLbl="sibTrans2D1" presStyleIdx="0" presStyleCnt="4"/>
      <dgm:spPr/>
    </dgm:pt>
    <dgm:pt modelId="{47D3A630-CE49-449A-916C-DE95222F0DF9}" type="pres">
      <dgm:prSet presAssocID="{D361EA61-B1D3-46A2-B547-31A336B50A52}" presName="connectorText" presStyleLbl="sibTrans2D1" presStyleIdx="0" presStyleCnt="4"/>
      <dgm:spPr/>
    </dgm:pt>
    <dgm:pt modelId="{8471FC85-03E1-4398-A2DD-82DAE101B1FA}" type="pres">
      <dgm:prSet presAssocID="{E5717A89-5208-4AFF-A158-95E9C86C6AEB}" presName="node" presStyleLbl="node1" presStyleIdx="1" presStyleCnt="5" custScaleY="76549" custLinFactNeighborX="311" custLinFactNeighborY="1036">
        <dgm:presLayoutVars>
          <dgm:bulletEnabled val="1"/>
        </dgm:presLayoutVars>
      </dgm:prSet>
      <dgm:spPr/>
    </dgm:pt>
    <dgm:pt modelId="{394D406B-B88D-4730-9269-6C1E65AF8F31}" type="pres">
      <dgm:prSet presAssocID="{AFDC2F65-965C-4397-9092-DE0614916467}" presName="sibTrans" presStyleLbl="sibTrans2D1" presStyleIdx="1" presStyleCnt="4"/>
      <dgm:spPr/>
    </dgm:pt>
    <dgm:pt modelId="{D1E99CFD-8B5C-46AB-871E-97CE0E05892C}" type="pres">
      <dgm:prSet presAssocID="{AFDC2F65-965C-4397-9092-DE0614916467}" presName="connectorText" presStyleLbl="sibTrans2D1" presStyleIdx="1" presStyleCnt="4"/>
      <dgm:spPr/>
    </dgm:pt>
    <dgm:pt modelId="{F36AC5F1-1723-42E8-B83D-8587D22541C5}" type="pres">
      <dgm:prSet presAssocID="{C5DF56DE-C2A0-4873-AB16-AAC17F710587}" presName="node" presStyleLbl="node1" presStyleIdx="2" presStyleCnt="5" custScaleY="72406">
        <dgm:presLayoutVars>
          <dgm:bulletEnabled val="1"/>
        </dgm:presLayoutVars>
      </dgm:prSet>
      <dgm:spPr/>
    </dgm:pt>
    <dgm:pt modelId="{3DB97B41-741F-4E54-BF04-FDD84021F5C2}" type="pres">
      <dgm:prSet presAssocID="{10520751-C2B5-454F-992D-361170BE3DA9}" presName="sibTrans" presStyleLbl="sibTrans2D1" presStyleIdx="2" presStyleCnt="4"/>
      <dgm:spPr/>
    </dgm:pt>
    <dgm:pt modelId="{BFB97AFE-B048-47FF-AB0E-C97C16A08751}" type="pres">
      <dgm:prSet presAssocID="{10520751-C2B5-454F-992D-361170BE3DA9}" presName="connectorText" presStyleLbl="sibTrans2D1" presStyleIdx="2" presStyleCnt="4"/>
      <dgm:spPr/>
    </dgm:pt>
    <dgm:pt modelId="{38803D42-11D6-4D1F-999F-4DCAA4C5B9B1}" type="pres">
      <dgm:prSet presAssocID="{8914A7AB-3F6A-476B-A053-DE54A97346B6}" presName="node" presStyleLbl="node1" presStyleIdx="3" presStyleCnt="5" custScaleY="78453">
        <dgm:presLayoutVars>
          <dgm:bulletEnabled val="1"/>
        </dgm:presLayoutVars>
      </dgm:prSet>
      <dgm:spPr/>
    </dgm:pt>
    <dgm:pt modelId="{6401D501-0828-4884-9F2F-7BDE0D576233}" type="pres">
      <dgm:prSet presAssocID="{79ECBB3F-EB8B-4675-B614-CD84B7B77688}" presName="sibTrans" presStyleLbl="sibTrans2D1" presStyleIdx="3" presStyleCnt="4"/>
      <dgm:spPr/>
    </dgm:pt>
    <dgm:pt modelId="{9E090E06-59D1-4AB7-B01C-62F42E0159B6}" type="pres">
      <dgm:prSet presAssocID="{79ECBB3F-EB8B-4675-B614-CD84B7B77688}" presName="connectorText" presStyleLbl="sibTrans2D1" presStyleIdx="3" presStyleCnt="4"/>
      <dgm:spPr/>
    </dgm:pt>
    <dgm:pt modelId="{ACC6335D-1835-4A47-95FC-101EEFAC4DEC}" type="pres">
      <dgm:prSet presAssocID="{E5955FB2-F786-4A5D-84DF-8C2B43CE115D}" presName="node" presStyleLbl="node1" presStyleIdx="4" presStyleCnt="5" custScaleY="77417">
        <dgm:presLayoutVars>
          <dgm:bulletEnabled val="1"/>
        </dgm:presLayoutVars>
      </dgm:prSet>
      <dgm:spPr/>
    </dgm:pt>
  </dgm:ptLst>
  <dgm:cxnLst>
    <dgm:cxn modelId="{F4B18713-AC9D-4115-8CBB-53335E8A851E}" type="presOf" srcId="{8914A7AB-3F6A-476B-A053-DE54A97346B6}" destId="{38803D42-11D6-4D1F-999F-4DCAA4C5B9B1}" srcOrd="0" destOrd="0" presId="urn:microsoft.com/office/officeart/2005/8/layout/process5"/>
    <dgm:cxn modelId="{4F78D21D-3D90-4435-843A-7CA7914255EF}" type="presOf" srcId="{C5DF56DE-C2A0-4873-AB16-AAC17F710587}" destId="{F36AC5F1-1723-42E8-B83D-8587D22541C5}" srcOrd="0" destOrd="0" presId="urn:microsoft.com/office/officeart/2005/8/layout/process5"/>
    <dgm:cxn modelId="{D5F5F12B-0370-486F-B220-253F79F38BE1}" srcId="{D96DB8C8-8D1B-457F-8CE5-7CFAA0081100}" destId="{E5955FB2-F786-4A5D-84DF-8C2B43CE115D}" srcOrd="4" destOrd="0" parTransId="{C4DC64B9-C8A3-44B1-B467-B6E1FDCB2681}" sibTransId="{6D501EB1-4698-4861-8AC8-4D47A1906C12}"/>
    <dgm:cxn modelId="{A73D1636-8D59-4359-A2AE-4EBFBCB42232}" srcId="{D96DB8C8-8D1B-457F-8CE5-7CFAA0081100}" destId="{8914A7AB-3F6A-476B-A053-DE54A97346B6}" srcOrd="3" destOrd="0" parTransId="{B0B857AE-3F78-4B3E-A3CA-037C77F52F8F}" sibTransId="{79ECBB3F-EB8B-4675-B614-CD84B7B77688}"/>
    <dgm:cxn modelId="{7EDA043E-8A37-4FF3-932A-8E614B5C42F1}" type="presOf" srcId="{79ECBB3F-EB8B-4675-B614-CD84B7B77688}" destId="{6401D501-0828-4884-9F2F-7BDE0D576233}" srcOrd="0" destOrd="0" presId="urn:microsoft.com/office/officeart/2005/8/layout/process5"/>
    <dgm:cxn modelId="{C687DE40-5544-4566-AFD2-E33A04B83795}" type="presOf" srcId="{AFDC2F65-965C-4397-9092-DE0614916467}" destId="{394D406B-B88D-4730-9269-6C1E65AF8F31}" srcOrd="0" destOrd="0" presId="urn:microsoft.com/office/officeart/2005/8/layout/process5"/>
    <dgm:cxn modelId="{B149FC6A-04CE-4766-A414-EE49BAD035D8}" type="presOf" srcId="{D361EA61-B1D3-46A2-B547-31A336B50A52}" destId="{EF3A4376-D61B-4F4C-8ED1-A564E16747DB}" srcOrd="0" destOrd="0" presId="urn:microsoft.com/office/officeart/2005/8/layout/process5"/>
    <dgm:cxn modelId="{CDF5FC6B-282B-4979-8D8C-74BD43452670}" type="presOf" srcId="{79ECBB3F-EB8B-4675-B614-CD84B7B77688}" destId="{9E090E06-59D1-4AB7-B01C-62F42E0159B6}" srcOrd="1" destOrd="0" presId="urn:microsoft.com/office/officeart/2005/8/layout/process5"/>
    <dgm:cxn modelId="{AF84084F-9963-442E-9FBC-8914D09023A0}" srcId="{D96DB8C8-8D1B-457F-8CE5-7CFAA0081100}" destId="{E5717A89-5208-4AFF-A158-95E9C86C6AEB}" srcOrd="1" destOrd="0" parTransId="{12691638-C2E6-4DD8-80F3-D0F893ACD082}" sibTransId="{AFDC2F65-965C-4397-9092-DE0614916467}"/>
    <dgm:cxn modelId="{8B769E73-06E9-4BF7-8AE0-887013B3B803}" type="presOf" srcId="{10520751-C2B5-454F-992D-361170BE3DA9}" destId="{BFB97AFE-B048-47FF-AB0E-C97C16A08751}" srcOrd="1" destOrd="0" presId="urn:microsoft.com/office/officeart/2005/8/layout/process5"/>
    <dgm:cxn modelId="{FC17808B-4C4E-4A40-8096-D12147DD429B}" type="presOf" srcId="{E5955FB2-F786-4A5D-84DF-8C2B43CE115D}" destId="{ACC6335D-1835-4A47-95FC-101EEFAC4DEC}" srcOrd="0" destOrd="0" presId="urn:microsoft.com/office/officeart/2005/8/layout/process5"/>
    <dgm:cxn modelId="{C2FE34A0-66CC-4B02-8260-2B6E6FBD769D}" type="presOf" srcId="{AFDC2F65-965C-4397-9092-DE0614916467}" destId="{D1E99CFD-8B5C-46AB-871E-97CE0E05892C}" srcOrd="1" destOrd="0" presId="urn:microsoft.com/office/officeart/2005/8/layout/process5"/>
    <dgm:cxn modelId="{B6C9ACD2-9620-4430-87E6-4458BAA10E8F}" type="presOf" srcId="{E5717A89-5208-4AFF-A158-95E9C86C6AEB}" destId="{8471FC85-03E1-4398-A2DD-82DAE101B1FA}" srcOrd="0" destOrd="0" presId="urn:microsoft.com/office/officeart/2005/8/layout/process5"/>
    <dgm:cxn modelId="{8A4534D7-1F16-4B28-AA4D-7E72888BDB47}" type="presOf" srcId="{430DE875-B4F1-49B3-B1D9-DBF8962D009D}" destId="{F5EE7EA5-1188-4C94-B8B4-1C44CD1491BA}" srcOrd="0" destOrd="0" presId="urn:microsoft.com/office/officeart/2005/8/layout/process5"/>
    <dgm:cxn modelId="{CAC05ED9-56E2-4D07-8A02-633982DECC48}" type="presOf" srcId="{10520751-C2B5-454F-992D-361170BE3DA9}" destId="{3DB97B41-741F-4E54-BF04-FDD84021F5C2}" srcOrd="0" destOrd="0" presId="urn:microsoft.com/office/officeart/2005/8/layout/process5"/>
    <dgm:cxn modelId="{E7A35DDA-7564-4D48-B314-D8D7037F514D}" type="presOf" srcId="{D96DB8C8-8D1B-457F-8CE5-7CFAA0081100}" destId="{715AD00F-6552-4AE7-8721-3179E0D054C7}" srcOrd="0" destOrd="0" presId="urn:microsoft.com/office/officeart/2005/8/layout/process5"/>
    <dgm:cxn modelId="{DE5149E3-B1C2-47F7-94FB-21DF4C351861}" srcId="{D96DB8C8-8D1B-457F-8CE5-7CFAA0081100}" destId="{430DE875-B4F1-49B3-B1D9-DBF8962D009D}" srcOrd="0" destOrd="0" parTransId="{5B0F561B-254B-4FB4-8DE5-836B1FAADEAA}" sibTransId="{D361EA61-B1D3-46A2-B547-31A336B50A52}"/>
    <dgm:cxn modelId="{311526F6-FF30-4E85-9E51-36D15F7EEFB3}" type="presOf" srcId="{D361EA61-B1D3-46A2-B547-31A336B50A52}" destId="{47D3A630-CE49-449A-916C-DE95222F0DF9}" srcOrd="1" destOrd="0" presId="urn:microsoft.com/office/officeart/2005/8/layout/process5"/>
    <dgm:cxn modelId="{570231F8-F832-4DE0-B49A-C6F532C801E5}" srcId="{D96DB8C8-8D1B-457F-8CE5-7CFAA0081100}" destId="{C5DF56DE-C2A0-4873-AB16-AAC17F710587}" srcOrd="2" destOrd="0" parTransId="{1766A10A-30CE-44DD-93A5-C791FBFA9F68}" sibTransId="{10520751-C2B5-454F-992D-361170BE3DA9}"/>
    <dgm:cxn modelId="{91477AC4-7EEE-4CCA-8FF8-70D4A47D8C07}" type="presParOf" srcId="{715AD00F-6552-4AE7-8721-3179E0D054C7}" destId="{F5EE7EA5-1188-4C94-B8B4-1C44CD1491BA}" srcOrd="0" destOrd="0" presId="urn:microsoft.com/office/officeart/2005/8/layout/process5"/>
    <dgm:cxn modelId="{2E2E4ADE-7AB9-4CE9-9632-8C8FD16797E2}" type="presParOf" srcId="{715AD00F-6552-4AE7-8721-3179E0D054C7}" destId="{EF3A4376-D61B-4F4C-8ED1-A564E16747DB}" srcOrd="1" destOrd="0" presId="urn:microsoft.com/office/officeart/2005/8/layout/process5"/>
    <dgm:cxn modelId="{A48BC9C1-9E75-42DD-90DB-ED341FAC6422}" type="presParOf" srcId="{EF3A4376-D61B-4F4C-8ED1-A564E16747DB}" destId="{47D3A630-CE49-449A-916C-DE95222F0DF9}" srcOrd="0" destOrd="0" presId="urn:microsoft.com/office/officeart/2005/8/layout/process5"/>
    <dgm:cxn modelId="{BC09F12A-73B9-4035-B13D-3FFE40C28DB5}" type="presParOf" srcId="{715AD00F-6552-4AE7-8721-3179E0D054C7}" destId="{8471FC85-03E1-4398-A2DD-82DAE101B1FA}" srcOrd="2" destOrd="0" presId="urn:microsoft.com/office/officeart/2005/8/layout/process5"/>
    <dgm:cxn modelId="{DE2D8FF6-4E61-4858-83BF-0999FF0F55F2}" type="presParOf" srcId="{715AD00F-6552-4AE7-8721-3179E0D054C7}" destId="{394D406B-B88D-4730-9269-6C1E65AF8F31}" srcOrd="3" destOrd="0" presId="urn:microsoft.com/office/officeart/2005/8/layout/process5"/>
    <dgm:cxn modelId="{1438B814-4134-49EB-A526-0665165F2AC4}" type="presParOf" srcId="{394D406B-B88D-4730-9269-6C1E65AF8F31}" destId="{D1E99CFD-8B5C-46AB-871E-97CE0E05892C}" srcOrd="0" destOrd="0" presId="urn:microsoft.com/office/officeart/2005/8/layout/process5"/>
    <dgm:cxn modelId="{A292DA5E-0960-41BE-B449-2A3783470A9A}" type="presParOf" srcId="{715AD00F-6552-4AE7-8721-3179E0D054C7}" destId="{F36AC5F1-1723-42E8-B83D-8587D22541C5}" srcOrd="4" destOrd="0" presId="urn:microsoft.com/office/officeart/2005/8/layout/process5"/>
    <dgm:cxn modelId="{A3827FBE-B4F8-4E44-A723-3515A11A47A1}" type="presParOf" srcId="{715AD00F-6552-4AE7-8721-3179E0D054C7}" destId="{3DB97B41-741F-4E54-BF04-FDD84021F5C2}" srcOrd="5" destOrd="0" presId="urn:microsoft.com/office/officeart/2005/8/layout/process5"/>
    <dgm:cxn modelId="{58588C4A-B57D-496D-B4D7-833C2C5B9FCC}" type="presParOf" srcId="{3DB97B41-741F-4E54-BF04-FDD84021F5C2}" destId="{BFB97AFE-B048-47FF-AB0E-C97C16A08751}" srcOrd="0" destOrd="0" presId="urn:microsoft.com/office/officeart/2005/8/layout/process5"/>
    <dgm:cxn modelId="{D30E9ED0-A6DF-4470-A355-13D45E2537EF}" type="presParOf" srcId="{715AD00F-6552-4AE7-8721-3179E0D054C7}" destId="{38803D42-11D6-4D1F-999F-4DCAA4C5B9B1}" srcOrd="6" destOrd="0" presId="urn:microsoft.com/office/officeart/2005/8/layout/process5"/>
    <dgm:cxn modelId="{FB9CFA7C-EE08-4F63-99A5-B38F95FE14C7}" type="presParOf" srcId="{715AD00F-6552-4AE7-8721-3179E0D054C7}" destId="{6401D501-0828-4884-9F2F-7BDE0D576233}" srcOrd="7" destOrd="0" presId="urn:microsoft.com/office/officeart/2005/8/layout/process5"/>
    <dgm:cxn modelId="{DFF7B192-6EDE-4CA9-BAAA-983FCD710006}" type="presParOf" srcId="{6401D501-0828-4884-9F2F-7BDE0D576233}" destId="{9E090E06-59D1-4AB7-B01C-62F42E0159B6}" srcOrd="0" destOrd="0" presId="urn:microsoft.com/office/officeart/2005/8/layout/process5"/>
    <dgm:cxn modelId="{7E5A9CD1-3BBD-4997-931F-AA4FFFED0048}" type="presParOf" srcId="{715AD00F-6552-4AE7-8721-3179E0D054C7}" destId="{ACC6335D-1835-4A47-95FC-101EEFAC4DEC}"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E7EA5-1188-4C94-B8B4-1C44CD1491BA}">
      <dsp:nvSpPr>
        <dsp:cNvPr id="0" name=""/>
        <dsp:cNvSpPr/>
      </dsp:nvSpPr>
      <dsp:spPr>
        <a:xfrm>
          <a:off x="1233" y="242445"/>
          <a:ext cx="2630982" cy="112663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Data Collection : </a:t>
          </a:r>
          <a:r>
            <a:rPr lang="en-US" sz="1900" kern="1200" dirty="0"/>
            <a:t>Kaggle sales dataset </a:t>
          </a:r>
          <a:endParaRPr lang="en-IN" sz="1900" kern="1200" dirty="0"/>
        </a:p>
      </dsp:txBody>
      <dsp:txXfrm>
        <a:off x="34231" y="275443"/>
        <a:ext cx="2564986" cy="1060643"/>
      </dsp:txXfrm>
    </dsp:sp>
    <dsp:sp modelId="{EF3A4376-D61B-4F4C-8ED1-A564E16747DB}">
      <dsp:nvSpPr>
        <dsp:cNvPr id="0" name=""/>
        <dsp:cNvSpPr/>
      </dsp:nvSpPr>
      <dsp:spPr>
        <a:xfrm rot="15258">
          <a:off x="2864011" y="487630"/>
          <a:ext cx="558427" cy="652483"/>
        </a:xfrm>
        <a:prstGeom prst="rightArrow">
          <a:avLst>
            <a:gd name="adj1" fmla="val 60000"/>
            <a:gd name="adj2" fmla="val 50000"/>
          </a:avLst>
        </a:prstGeom>
        <a:solidFill>
          <a:schemeClr val="accent3">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2864012" y="617755"/>
        <a:ext cx="390899" cy="391489"/>
      </dsp:txXfrm>
    </dsp:sp>
    <dsp:sp modelId="{8471FC85-03E1-4398-A2DD-82DAE101B1FA}">
      <dsp:nvSpPr>
        <dsp:cNvPr id="0" name=""/>
        <dsp:cNvSpPr/>
      </dsp:nvSpPr>
      <dsp:spPr>
        <a:xfrm>
          <a:off x="3685842" y="217922"/>
          <a:ext cx="2630982" cy="120839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Data Understanding </a:t>
          </a:r>
          <a:r>
            <a:rPr lang="en-US" sz="1900" kern="1200" dirty="0"/>
            <a:t>: Analyzed 50K+ records </a:t>
          </a:r>
          <a:endParaRPr lang="en-IN" sz="1900" kern="1200" dirty="0"/>
        </a:p>
      </dsp:txBody>
      <dsp:txXfrm>
        <a:off x="3721235" y="253315"/>
        <a:ext cx="2560196" cy="1137608"/>
      </dsp:txXfrm>
    </dsp:sp>
    <dsp:sp modelId="{394D406B-B88D-4730-9269-6C1E65AF8F31}">
      <dsp:nvSpPr>
        <dsp:cNvPr id="0" name=""/>
        <dsp:cNvSpPr/>
      </dsp:nvSpPr>
      <dsp:spPr>
        <a:xfrm rot="5401877">
          <a:off x="4713518" y="1625702"/>
          <a:ext cx="574396" cy="652483"/>
        </a:xfrm>
        <a:prstGeom prst="rightArrow">
          <a:avLst>
            <a:gd name="adj1" fmla="val 60000"/>
            <a:gd name="adj2" fmla="val 50000"/>
          </a:avLst>
        </a:prstGeom>
        <a:solidFill>
          <a:schemeClr val="accent3">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5400000">
        <a:off x="4805019" y="1664746"/>
        <a:ext cx="391489" cy="402077"/>
      </dsp:txXfrm>
    </dsp:sp>
    <dsp:sp modelId="{F36AC5F1-1723-42E8-B83D-8587D22541C5}">
      <dsp:nvSpPr>
        <dsp:cNvPr id="0" name=""/>
        <dsp:cNvSpPr/>
      </dsp:nvSpPr>
      <dsp:spPr>
        <a:xfrm>
          <a:off x="3684608" y="2510084"/>
          <a:ext cx="2630982" cy="114299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Data Exploration </a:t>
          </a:r>
          <a:r>
            <a:rPr lang="en-US" sz="1900" kern="1200" dirty="0"/>
            <a:t>: Checked nulls, outliers, distributions </a:t>
          </a:r>
          <a:endParaRPr lang="en-IN" sz="1900" kern="1200" dirty="0"/>
        </a:p>
      </dsp:txBody>
      <dsp:txXfrm>
        <a:off x="3718085" y="2543561"/>
        <a:ext cx="2564028" cy="1076039"/>
      </dsp:txXfrm>
    </dsp:sp>
    <dsp:sp modelId="{3DB97B41-741F-4E54-BF04-FDD84021F5C2}">
      <dsp:nvSpPr>
        <dsp:cNvPr id="0" name=""/>
        <dsp:cNvSpPr/>
      </dsp:nvSpPr>
      <dsp:spPr>
        <a:xfrm rot="10800000">
          <a:off x="2895314" y="2755339"/>
          <a:ext cx="557768" cy="652483"/>
        </a:xfrm>
        <a:prstGeom prst="rightArrow">
          <a:avLst>
            <a:gd name="adj1" fmla="val 60000"/>
            <a:gd name="adj2" fmla="val 50000"/>
          </a:avLst>
        </a:prstGeom>
        <a:solidFill>
          <a:schemeClr val="accent3">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3062644" y="2885836"/>
        <a:ext cx="390438" cy="391489"/>
      </dsp:txXfrm>
    </dsp:sp>
    <dsp:sp modelId="{38803D42-11D6-4D1F-999F-4DCAA4C5B9B1}">
      <dsp:nvSpPr>
        <dsp:cNvPr id="0" name=""/>
        <dsp:cNvSpPr/>
      </dsp:nvSpPr>
      <dsp:spPr>
        <a:xfrm>
          <a:off x="1233" y="2462355"/>
          <a:ext cx="2630982" cy="123845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Data Cleaning : </a:t>
          </a:r>
          <a:r>
            <a:rPr lang="en-US" sz="1900" kern="1200" dirty="0"/>
            <a:t>Removed 2% incorrect data </a:t>
          </a:r>
          <a:endParaRPr lang="en-IN" sz="1900" kern="1200" dirty="0"/>
        </a:p>
      </dsp:txBody>
      <dsp:txXfrm>
        <a:off x="37506" y="2498628"/>
        <a:ext cx="2558436" cy="1165904"/>
      </dsp:txXfrm>
    </dsp:sp>
    <dsp:sp modelId="{6401D501-0828-4884-9F2F-7BDE0D576233}">
      <dsp:nvSpPr>
        <dsp:cNvPr id="0" name=""/>
        <dsp:cNvSpPr/>
      </dsp:nvSpPr>
      <dsp:spPr>
        <a:xfrm rot="5400000">
          <a:off x="1037840" y="3884975"/>
          <a:ext cx="557768" cy="652483"/>
        </a:xfrm>
        <a:prstGeom prst="rightArrow">
          <a:avLst>
            <a:gd name="adj1" fmla="val 60000"/>
            <a:gd name="adj2" fmla="val 50000"/>
          </a:avLst>
        </a:prstGeom>
        <a:solidFill>
          <a:schemeClr val="accent3">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5400000">
        <a:off x="1120980" y="3932332"/>
        <a:ext cx="391489" cy="390438"/>
      </dsp:txXfrm>
    </dsp:sp>
    <dsp:sp modelId="{ACC6335D-1835-4A47-95FC-101EEFAC4DEC}">
      <dsp:nvSpPr>
        <dsp:cNvPr id="0" name=""/>
        <dsp:cNvSpPr/>
      </dsp:nvSpPr>
      <dsp:spPr>
        <a:xfrm>
          <a:off x="1233" y="4753199"/>
          <a:ext cx="2630982" cy="122209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Visualization &amp; Insights </a:t>
          </a:r>
          <a:r>
            <a:rPr lang="en-US" sz="1900" kern="1200" dirty="0"/>
            <a:t>: Charts for sales trends, top products, regions, peak months</a:t>
          </a:r>
          <a:endParaRPr lang="en-IN" sz="1900" kern="1200" dirty="0"/>
        </a:p>
      </dsp:txBody>
      <dsp:txXfrm>
        <a:off x="37027" y="4788993"/>
        <a:ext cx="2559394" cy="1150508"/>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10/31/2025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10/31/2025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73043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534239" y="382949"/>
            <a:ext cx="7632441" cy="830424"/>
          </a:xfrm>
        </p:spPr>
        <p:txBody>
          <a:bodyPr/>
          <a:lstStyle/>
          <a:p>
            <a:pPr algn="ctr"/>
            <a:r>
              <a:rPr lang="en-US" dirty="0"/>
              <a:t>Business Problem</a:t>
            </a:r>
          </a:p>
        </p:txBody>
      </p:sp>
      <p:sp>
        <p:nvSpPr>
          <p:cNvPr id="3" name="Rectangle 2">
            <a:extLst>
              <a:ext uri="{FF2B5EF4-FFF2-40B4-BE49-F238E27FC236}">
                <a16:creationId xmlns:a16="http://schemas.microsoft.com/office/drawing/2014/main" id="{E92B6735-512A-E737-01D1-F54FBF402901}"/>
              </a:ext>
            </a:extLst>
          </p:cNvPr>
          <p:cNvSpPr/>
          <p:nvPr/>
        </p:nvSpPr>
        <p:spPr>
          <a:xfrm>
            <a:off x="2951485" y="2001810"/>
            <a:ext cx="9237307" cy="20213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i="1" dirty="0">
                <a:latin typeface="Times New Roman" panose="02020603050405020304" pitchFamily="18" charset="0"/>
                <a:cs typeface="Times New Roman" panose="02020603050405020304" pitchFamily="18" charset="0"/>
              </a:rPr>
              <a:t>Nike lacks clear insights into product performance, customer preferences, and seasonal demand leading to missed sales opportunities and suboptimal inventory and marketing decisions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0" y="2960"/>
            <a:ext cx="3853543" cy="472901"/>
          </a:xfrm>
        </p:spPr>
        <p:txBody>
          <a:bodyPr/>
          <a:lstStyle/>
          <a:p>
            <a:r>
              <a:rPr lang="en-US" sz="3600" dirty="0">
                <a:latin typeface="Times New Roman" panose="02020603050405020304" pitchFamily="18" charset="0"/>
                <a:cs typeface="Times New Roman" panose="02020603050405020304" pitchFamily="18" charset="0"/>
              </a:rPr>
              <a:t>Project Flow</a:t>
            </a:r>
          </a:p>
        </p:txBody>
      </p:sp>
      <p:graphicFrame>
        <p:nvGraphicFramePr>
          <p:cNvPr id="7" name="Content Placeholder 6">
            <a:extLst>
              <a:ext uri="{FF2B5EF4-FFF2-40B4-BE49-F238E27FC236}">
                <a16:creationId xmlns:a16="http://schemas.microsoft.com/office/drawing/2014/main" id="{47F7D6A0-5257-798B-8A6E-EC57B3CB78F9}"/>
              </a:ext>
            </a:extLst>
          </p:cNvPr>
          <p:cNvGraphicFramePr>
            <a:graphicFrameLocks noGrp="1"/>
          </p:cNvGraphicFramePr>
          <p:nvPr>
            <p:ph sz="quarter" idx="13"/>
            <p:extLst>
              <p:ext uri="{D42A27DB-BD31-4B8C-83A1-F6EECF244321}">
                <p14:modId xmlns:p14="http://schemas.microsoft.com/office/powerpoint/2010/main" val="1672399507"/>
              </p:ext>
            </p:extLst>
          </p:nvPr>
        </p:nvGraphicFramePr>
        <p:xfrm>
          <a:off x="382555" y="849086"/>
          <a:ext cx="6316825" cy="61768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CB9B9754-CDD6-93EF-8F65-F879D6D8F9E3}"/>
              </a:ext>
            </a:extLst>
          </p:cNvPr>
          <p:cNvSpPr/>
          <p:nvPr/>
        </p:nvSpPr>
        <p:spPr>
          <a:xfrm>
            <a:off x="4189445" y="4665306"/>
            <a:ext cx="5150498" cy="33123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Data Overview :</a:t>
            </a:r>
            <a:endParaRPr lang="en-IN" b="1"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D789E808-FCF3-2616-244F-E195EF7B5D4A}"/>
              </a:ext>
            </a:extLst>
          </p:cNvPr>
          <p:cNvSpPr/>
          <p:nvPr/>
        </p:nvSpPr>
        <p:spPr>
          <a:xfrm>
            <a:off x="4320074" y="5122508"/>
            <a:ext cx="5150499" cy="72778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buFont typeface="Wingdings" panose="05000000000000000000" pitchFamily="2" charset="2"/>
              <a:buChar char="Ø"/>
            </a:pPr>
            <a:r>
              <a:rPr lang="en-US" sz="2000" dirty="0">
                <a:latin typeface="Times New Roman" panose="02020603050405020304" pitchFamily="18" charset="0"/>
                <a:ea typeface="Calibri" panose="020F0502020204030204" pitchFamily="34" charset="0"/>
                <a:cs typeface="Times New Roman" panose="02020603050405020304" pitchFamily="18" charset="0"/>
              </a:rPr>
              <a:t>Data Size : 50,250 rows X 13 columns</a:t>
            </a:r>
          </a:p>
          <a:p>
            <a:pPr marL="342900" indent="-342900">
              <a:buFont typeface="Wingdings" panose="05000000000000000000" pitchFamily="2" charset="2"/>
              <a:buChar char="Ø"/>
            </a:pPr>
            <a:r>
              <a:rPr lang="en-US" sz="2000" dirty="0">
                <a:latin typeface="Times New Roman" panose="02020603050405020304" pitchFamily="18" charset="0"/>
                <a:ea typeface="Calibri" panose="020F0502020204030204" pitchFamily="34" charset="0"/>
                <a:cs typeface="Times New Roman" panose="02020603050405020304" pitchFamily="18" charset="0"/>
              </a:rPr>
              <a:t>Period Covered : Jan 2023 – Mar 2024</a:t>
            </a:r>
          </a:p>
          <a:p>
            <a:endParaRPr lang="en-US" sz="20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72166585-538B-9EB1-CD17-0B4A939E6477}"/>
              </a:ext>
            </a:extLst>
          </p:cNvPr>
          <p:cNvSpPr/>
          <p:nvPr/>
        </p:nvSpPr>
        <p:spPr>
          <a:xfrm>
            <a:off x="3993503" y="5684675"/>
            <a:ext cx="2174032" cy="33123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2000" b="1" i="1" dirty="0">
                <a:latin typeface="Times New Roman" panose="02020603050405020304" pitchFamily="18" charset="0"/>
                <a:cs typeface="Times New Roman" panose="02020603050405020304" pitchFamily="18" charset="0"/>
              </a:rPr>
              <a:t>Target variable:</a:t>
            </a:r>
          </a:p>
        </p:txBody>
      </p:sp>
      <p:sp>
        <p:nvSpPr>
          <p:cNvPr id="12" name="Rectangle 11">
            <a:extLst>
              <a:ext uri="{FF2B5EF4-FFF2-40B4-BE49-F238E27FC236}">
                <a16:creationId xmlns:a16="http://schemas.microsoft.com/office/drawing/2014/main" id="{54AF88D2-8FA9-42C7-6F5F-162D714AB7EA}"/>
              </a:ext>
            </a:extLst>
          </p:cNvPr>
          <p:cNvSpPr/>
          <p:nvPr/>
        </p:nvSpPr>
        <p:spPr>
          <a:xfrm>
            <a:off x="4320074" y="5976258"/>
            <a:ext cx="7035282" cy="72778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US" sz="2000" b="1" dirty="0">
                <a:latin typeface="Times New Roman" panose="02020603050405020304" pitchFamily="18" charset="0"/>
                <a:cs typeface="Times New Roman" panose="02020603050405020304" pitchFamily="18" charset="0"/>
              </a:rPr>
              <a:t>Revenue: </a:t>
            </a:r>
            <a:r>
              <a:rPr lang="en-US" sz="2000" dirty="0">
                <a:latin typeface="Times New Roman" panose="02020603050405020304" pitchFamily="18" charset="0"/>
                <a:cs typeface="Times New Roman" panose="02020603050405020304" pitchFamily="18" charset="0"/>
              </a:rPr>
              <a:t>Represents</a:t>
            </a:r>
            <a:r>
              <a:rPr lang="en-US" dirty="0">
                <a:latin typeface="Times New Roman" panose="02020603050405020304" pitchFamily="18" charset="0"/>
                <a:cs typeface="Times New Roman" panose="02020603050405020304" pitchFamily="18" charset="0"/>
              </a:rPr>
              <a:t> overall sales performance and directly reflects Nike’s business growth</a:t>
            </a:r>
            <a:endParaRPr lang="en-IN" dirty="0"/>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37279A-330D-886F-340D-494A5005E5FC}"/>
              </a:ext>
            </a:extLst>
          </p:cNvPr>
          <p:cNvSpPr>
            <a:spLocks noGrp="1"/>
          </p:cNvSpPr>
          <p:nvPr>
            <p:ph type="title"/>
          </p:nvPr>
        </p:nvSpPr>
        <p:spPr>
          <a:xfrm>
            <a:off x="1527142" y="4937161"/>
            <a:ext cx="10224738" cy="1059378"/>
          </a:xfrm>
        </p:spPr>
        <p:txBody>
          <a:bodyPr anchor="b">
            <a:normAutofit/>
          </a:bodyPr>
          <a:lstStyle/>
          <a:p>
            <a:pPr marL="342900" indent="-342900" algn="ctr">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Most Nike sales revenue falls between 10,000-20000 showing a  high concentration of mid-range sales. However, a few transaction reach beyond 1,00,000 indicating rare but reflecting lower demand for premium-priced products.</a:t>
            </a:r>
          </a:p>
        </p:txBody>
      </p:sp>
      <p:pic>
        <p:nvPicPr>
          <p:cNvPr id="14" name="Picture Placeholder 13" descr="A graph showing sales growth&#10;&#10;AI-generated content may be incorrect.">
            <a:extLst>
              <a:ext uri="{FF2B5EF4-FFF2-40B4-BE49-F238E27FC236}">
                <a16:creationId xmlns:a16="http://schemas.microsoft.com/office/drawing/2014/main" id="{0B4A08D7-6932-0FD7-C0D6-05ED60BDC213}"/>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40119" y="44282"/>
            <a:ext cx="11081321" cy="4892879"/>
          </a:xfrm>
          <a:noFill/>
          <a:ln>
            <a:solidFill>
              <a:schemeClr val="tx1">
                <a:lumMod val="95000"/>
              </a:schemeClr>
            </a:solidFill>
          </a:ln>
        </p:spPr>
      </p:pic>
      <p:sp>
        <p:nvSpPr>
          <p:cNvPr id="2" name="TextBox 1">
            <a:extLst>
              <a:ext uri="{FF2B5EF4-FFF2-40B4-BE49-F238E27FC236}">
                <a16:creationId xmlns:a16="http://schemas.microsoft.com/office/drawing/2014/main" id="{9D4EEF51-E078-4BC8-966C-8847A5A43BCA}"/>
              </a:ext>
            </a:extLst>
          </p:cNvPr>
          <p:cNvSpPr txBox="1"/>
          <p:nvPr/>
        </p:nvSpPr>
        <p:spPr>
          <a:xfrm>
            <a:off x="9144000" y="452387"/>
            <a:ext cx="2377440" cy="369332"/>
          </a:xfrm>
          <a:prstGeom prst="rect">
            <a:avLst/>
          </a:prstGeom>
          <a:noFill/>
        </p:spPr>
        <p:txBody>
          <a:bodyPr wrap="square" rtlCol="0">
            <a:spAutoFit/>
          </a:bodyPr>
          <a:lstStyle/>
          <a:p>
            <a:r>
              <a:rPr lang="en-US" dirty="0">
                <a:solidFill>
                  <a:schemeClr val="bg1"/>
                </a:solidFill>
                <a:sym typeface="Wingdings" panose="05000000000000000000" pitchFamily="2" charset="2"/>
              </a:rPr>
              <a:t> </a:t>
            </a:r>
            <a:endParaRPr lang="en-US" dirty="0">
              <a:solidFill>
                <a:schemeClr val="bg1"/>
              </a:solidFill>
            </a:endParaRPr>
          </a:p>
        </p:txBody>
      </p:sp>
    </p:spTree>
    <p:extLst>
      <p:ext uri="{BB962C8B-B14F-4D97-AF65-F5344CB8AC3E}">
        <p14:creationId xmlns:p14="http://schemas.microsoft.com/office/powerpoint/2010/main" val="2249372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CFB4D595-8C6E-68E7-8E62-481B1429CF1E}"/>
              </a:ext>
            </a:extLst>
          </p:cNvPr>
          <p:cNvSpPr>
            <a:spLocks noGrp="1"/>
          </p:cNvSpPr>
          <p:nvPr>
            <p:ph type="title"/>
          </p:nvPr>
        </p:nvSpPr>
        <p:spPr>
          <a:xfrm>
            <a:off x="2079057" y="4511937"/>
            <a:ext cx="9086248" cy="648171"/>
          </a:xfrm>
        </p:spPr>
        <p:txBody>
          <a:bodyPr>
            <a:noAutofit/>
          </a:bodyPr>
          <a:lstStyle/>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Steady Growth</a:t>
            </a:r>
            <a:r>
              <a:rPr lang="en-US" sz="1800" b="0" dirty="0">
                <a:latin typeface="Times New Roman" panose="02020603050405020304" pitchFamily="18" charset="0"/>
                <a:cs typeface="Times New Roman" panose="02020603050405020304" pitchFamily="18" charset="0"/>
              </a:rPr>
              <a:t>(Jan-Apr)Sales start strong in the first quarter and keep rising till Apr showing early-year performance.</a:t>
            </a:r>
            <a:br>
              <a:rPr lang="en-US" sz="1800" b="0" dirty="0">
                <a:latin typeface="Times New Roman" panose="02020603050405020304" pitchFamily="18" charset="0"/>
                <a:cs typeface="Times New Roman" panose="02020603050405020304" pitchFamily="18" charset="0"/>
              </a:rPr>
            </a:br>
            <a:endParaRPr lang="en-US" sz="1800" b="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559E881-FC5B-D73A-252E-599746B28422}"/>
              </a:ext>
            </a:extLst>
          </p:cNvPr>
          <p:cNvSpPr/>
          <p:nvPr/>
        </p:nvSpPr>
        <p:spPr>
          <a:xfrm>
            <a:off x="1963555" y="5128380"/>
            <a:ext cx="9278708" cy="60213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Mid-Year Drop</a:t>
            </a:r>
            <a:r>
              <a:rPr lang="en-US" dirty="0">
                <a:solidFill>
                  <a:schemeClr val="bg1"/>
                </a:solidFill>
                <a:latin typeface="Times New Roman" panose="02020603050405020304" pitchFamily="18" charset="0"/>
                <a:cs typeface="Times New Roman" panose="02020603050405020304" pitchFamily="18" charset="0"/>
              </a:rPr>
              <a:t>: Revenue declines from May to July, indicating a seasonal slowdown in sales.</a:t>
            </a:r>
          </a:p>
        </p:txBody>
      </p:sp>
      <p:sp>
        <p:nvSpPr>
          <p:cNvPr id="4" name="Rectangle 3">
            <a:extLst>
              <a:ext uri="{FF2B5EF4-FFF2-40B4-BE49-F238E27FC236}">
                <a16:creationId xmlns:a16="http://schemas.microsoft.com/office/drawing/2014/main" id="{62859BA9-F410-8C72-B367-E2BC75DEFD09}"/>
              </a:ext>
            </a:extLst>
          </p:cNvPr>
          <p:cNvSpPr/>
          <p:nvPr/>
        </p:nvSpPr>
        <p:spPr>
          <a:xfrm>
            <a:off x="1963555" y="6102224"/>
            <a:ext cx="9872237" cy="12532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285750" indent="-285750" algn="ct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Year-End Peak</a:t>
            </a:r>
            <a:r>
              <a:rPr lang="en-US" dirty="0">
                <a:latin typeface="Times New Roman" panose="02020603050405020304" pitchFamily="18" charset="0"/>
                <a:cs typeface="Times New Roman" panose="02020603050405020304" pitchFamily="18" charset="0"/>
              </a:rPr>
              <a:t>: From August onward, sales grow sharply, reaching their highest levels in November and December due to festive demand.</a:t>
            </a:r>
            <a:endParaRPr lang="en-IN" dirty="0">
              <a:latin typeface="Times New Roman" panose="02020603050405020304" pitchFamily="18" charset="0"/>
              <a:cs typeface="Times New Roman" panose="02020603050405020304" pitchFamily="18" charset="0"/>
            </a:endParaRPr>
          </a:p>
        </p:txBody>
      </p:sp>
      <p:pic>
        <p:nvPicPr>
          <p:cNvPr id="18" name="Content Placeholder 17">
            <a:extLst>
              <a:ext uri="{FF2B5EF4-FFF2-40B4-BE49-F238E27FC236}">
                <a16:creationId xmlns:a16="http://schemas.microsoft.com/office/drawing/2014/main" id="{90B4CB67-0891-4C23-8505-20424F94D5DA}"/>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83859" y="74924"/>
            <a:ext cx="11165305" cy="4111341"/>
          </a:xfrm>
        </p:spPr>
      </p:pic>
    </p:spTree>
    <p:extLst>
      <p:ext uri="{BB962C8B-B14F-4D97-AF65-F5344CB8AC3E}">
        <p14:creationId xmlns:p14="http://schemas.microsoft.com/office/powerpoint/2010/main" val="1440871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flipH="1">
            <a:off x="475861" y="102875"/>
            <a:ext cx="118499" cy="45719"/>
          </a:xfrm>
        </p:spPr>
        <p:txBody>
          <a:bodyPr/>
          <a:lstStyle/>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5" name="Rectangle 4">
            <a:extLst>
              <a:ext uri="{FF2B5EF4-FFF2-40B4-BE49-F238E27FC236}">
                <a16:creationId xmlns:a16="http://schemas.microsoft.com/office/drawing/2014/main" id="{1B9B3B84-00D5-53E0-2AB8-C0773E5F2DF8}"/>
              </a:ext>
            </a:extLst>
          </p:cNvPr>
          <p:cNvSpPr/>
          <p:nvPr/>
        </p:nvSpPr>
        <p:spPr>
          <a:xfrm>
            <a:off x="968354" y="4847070"/>
            <a:ext cx="11133450" cy="149128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The Running and Lifestyle categories have the highest sales, indicating strong costumer demand in these segments.</a:t>
            </a:r>
          </a:p>
          <a:p>
            <a:pPr algn="ct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ct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Basketball and Training products also perform well, while kids and football lines have comparatively lower sales suggesting potential areas for improvement or targeted marketing,.</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8828C6BA-7096-42E4-AB67-10457503102E}"/>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93494" y="0"/>
            <a:ext cx="9900173" cy="4470400"/>
          </a:xfrm>
        </p:spPr>
      </p:pic>
    </p:spTree>
    <p:extLst>
      <p:ext uri="{BB962C8B-B14F-4D97-AF65-F5344CB8AC3E}">
        <p14:creationId xmlns:p14="http://schemas.microsoft.com/office/powerpoint/2010/main" val="320031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pic>
        <p:nvPicPr>
          <p:cNvPr id="4" name="Picture 3" descr="A graph showing sales and sales&#10;&#10;AI-generated content may be incorrect.">
            <a:extLst>
              <a:ext uri="{FF2B5EF4-FFF2-40B4-BE49-F238E27FC236}">
                <a16:creationId xmlns:a16="http://schemas.microsoft.com/office/drawing/2014/main" id="{BC1CCEB8-A3BF-43C3-EC0E-9AA957C30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20" y="0"/>
            <a:ext cx="11524779" cy="4843305"/>
          </a:xfrm>
          <a:prstGeom prst="rect">
            <a:avLst/>
          </a:prstGeom>
        </p:spPr>
      </p:pic>
      <p:sp>
        <p:nvSpPr>
          <p:cNvPr id="5" name="Rectangle 4">
            <a:extLst>
              <a:ext uri="{FF2B5EF4-FFF2-40B4-BE49-F238E27FC236}">
                <a16:creationId xmlns:a16="http://schemas.microsoft.com/office/drawing/2014/main" id="{B11F6F10-AF55-F3C6-24D9-8D4B4B26C374}"/>
              </a:ext>
            </a:extLst>
          </p:cNvPr>
          <p:cNvSpPr/>
          <p:nvPr/>
        </p:nvSpPr>
        <p:spPr>
          <a:xfrm>
            <a:off x="5307683" y="4843305"/>
            <a:ext cx="6772589" cy="130628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q"/>
            </a:pPr>
            <a:r>
              <a:rPr lang="en-US" dirty="0">
                <a:solidFill>
                  <a:schemeClr val="bg1"/>
                </a:solidFill>
                <a:latin typeface="Times New Roman" panose="02020603050405020304" pitchFamily="18" charset="0"/>
                <a:cs typeface="Times New Roman" panose="02020603050405020304" pitchFamily="18" charset="0"/>
              </a:rPr>
              <a:t>Nike Air Max 90 essential leads as the highest selling product, Followed closely by Nike dunk low retro and Nike Cortez Classic, Overall, The Air Max series dominated the top positions ,showing strong costumer preference for comfort and style-Oriented footwear.</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905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A03355B-4434-A93F-55D9-25B0EA2A6F9A}"/>
              </a:ext>
            </a:extLst>
          </p:cNvPr>
          <p:cNvSpPr/>
          <p:nvPr/>
        </p:nvSpPr>
        <p:spPr>
          <a:xfrm>
            <a:off x="223935" y="5057192"/>
            <a:ext cx="11635273" cy="1147665"/>
          </a:xfrm>
          <a:prstGeom prst="rect">
            <a:avLst/>
          </a:prstGeom>
          <a:solidFill>
            <a:schemeClr val="tx1"/>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Sales are highest in January and march.</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Running and lifestyle Categories lead consistently cross months.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Kids and football product lines have lower sales performance</a:t>
            </a:r>
            <a:r>
              <a:rPr lang="en-US" dirty="0"/>
              <a:t>.</a:t>
            </a:r>
            <a:endParaRPr lang="en-IN" dirty="0"/>
          </a:p>
        </p:txBody>
      </p:sp>
      <p:pic>
        <p:nvPicPr>
          <p:cNvPr id="3" name="Picture 2">
            <a:extLst>
              <a:ext uri="{FF2B5EF4-FFF2-40B4-BE49-F238E27FC236}">
                <a16:creationId xmlns:a16="http://schemas.microsoft.com/office/drawing/2014/main" id="{D80F51F8-EB1E-49EE-8B2B-B229012707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03" y="77002"/>
            <a:ext cx="12041204" cy="4891783"/>
          </a:xfrm>
          <a:prstGeom prst="rect">
            <a:avLst/>
          </a:prstGeom>
        </p:spPr>
      </p:pic>
    </p:spTree>
    <p:extLst>
      <p:ext uri="{BB962C8B-B14F-4D97-AF65-F5344CB8AC3E}">
        <p14:creationId xmlns:p14="http://schemas.microsoft.com/office/powerpoint/2010/main" val="888484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1B94A2-2BF7-4B6C-A611-06FCEDC62E52}"/>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0" y="319574"/>
            <a:ext cx="6449668" cy="6538426"/>
          </a:xfrm>
        </p:spPr>
      </p:pic>
      <p:sp>
        <p:nvSpPr>
          <p:cNvPr id="6" name="Rectangle 5">
            <a:extLst>
              <a:ext uri="{FF2B5EF4-FFF2-40B4-BE49-F238E27FC236}">
                <a16:creationId xmlns:a16="http://schemas.microsoft.com/office/drawing/2014/main" id="{F30C1190-E2EC-42CC-B849-E5CD3C5D29DE}"/>
              </a:ext>
            </a:extLst>
          </p:cNvPr>
          <p:cNvSpPr/>
          <p:nvPr/>
        </p:nvSpPr>
        <p:spPr>
          <a:xfrm rot="10800000" flipV="1">
            <a:off x="6920563" y="2695073"/>
            <a:ext cx="5101389" cy="233893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dirty="0"/>
          </a:p>
          <a:p>
            <a:pPr>
              <a:buFont typeface="Arial" panose="020B0604020202020204" pitchFamily="34" charset="0"/>
              <a:buChar char="•"/>
            </a:pPr>
            <a:endParaRPr lang="en-US" dirty="0"/>
          </a:p>
          <a:p>
            <a:pPr>
              <a:buFont typeface="Arial" panose="020B0604020202020204" pitchFamily="34" charset="0"/>
              <a:buChar char="•"/>
            </a:pPr>
            <a:r>
              <a:rPr lang="en-US" sz="2400" b="1" dirty="0"/>
              <a:t>Nike App</a:t>
            </a:r>
            <a:r>
              <a:rPr lang="en-US" sz="2400" dirty="0"/>
              <a:t> has the lowest share (</a:t>
            </a:r>
            <a:r>
              <a:rPr lang="en-US" sz="2400" b="1" dirty="0"/>
              <a:t>5%</a:t>
            </a:r>
            <a:r>
              <a:rPr lang="en-US" sz="2400" dirty="0"/>
              <a:t>), suggesting scope to improve app-based engagement and marketing.</a:t>
            </a:r>
          </a:p>
          <a:p>
            <a:pPr algn="ctr"/>
            <a:endParaRPr lang="en-US" dirty="0"/>
          </a:p>
        </p:txBody>
      </p:sp>
      <p:sp>
        <p:nvSpPr>
          <p:cNvPr id="11" name="Rectangle 10">
            <a:extLst>
              <a:ext uri="{FF2B5EF4-FFF2-40B4-BE49-F238E27FC236}">
                <a16:creationId xmlns:a16="http://schemas.microsoft.com/office/drawing/2014/main" id="{13CCD2E1-D1C0-4038-A162-3A19566F07D9}"/>
              </a:ext>
            </a:extLst>
          </p:cNvPr>
          <p:cNvSpPr/>
          <p:nvPr/>
        </p:nvSpPr>
        <p:spPr>
          <a:xfrm>
            <a:off x="6096000" y="194445"/>
            <a:ext cx="5733449" cy="134559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lvl="2">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Nike.com</a:t>
            </a:r>
            <a:r>
              <a:rPr lang="en-US" sz="2400" dirty="0">
                <a:latin typeface="Times New Roman" panose="02020603050405020304" pitchFamily="18" charset="0"/>
                <a:cs typeface="Times New Roman" panose="02020603050405020304" pitchFamily="18" charset="0"/>
              </a:rPr>
              <a:t> contributes the </a:t>
            </a:r>
            <a:r>
              <a:rPr lang="en-US" sz="2400" b="1" dirty="0">
                <a:latin typeface="Times New Roman" panose="02020603050405020304" pitchFamily="18" charset="0"/>
                <a:cs typeface="Times New Roman" panose="02020603050405020304" pitchFamily="18" charset="0"/>
              </a:rPr>
              <a:t>highest sales share (35.1%)</a:t>
            </a:r>
            <a:r>
              <a:rPr lang="en-US" sz="2400" dirty="0">
                <a:latin typeface="Times New Roman" panose="02020603050405020304" pitchFamily="18" charset="0"/>
                <a:cs typeface="Times New Roman" panose="02020603050405020304" pitchFamily="18" charset="0"/>
              </a:rPr>
              <a:t>, showing strong online performance.</a:t>
            </a:r>
          </a:p>
        </p:txBody>
      </p:sp>
      <p:sp>
        <p:nvSpPr>
          <p:cNvPr id="12" name="Rectangle 11">
            <a:extLst>
              <a:ext uri="{FF2B5EF4-FFF2-40B4-BE49-F238E27FC236}">
                <a16:creationId xmlns:a16="http://schemas.microsoft.com/office/drawing/2014/main" id="{648C629C-BF1E-4C78-BC31-08452257CC45}"/>
              </a:ext>
            </a:extLst>
          </p:cNvPr>
          <p:cNvSpPr/>
          <p:nvPr/>
        </p:nvSpPr>
        <p:spPr>
          <a:xfrm>
            <a:off x="7016817" y="1751798"/>
            <a:ext cx="5175183" cy="8277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dirty="0"/>
          </a:p>
          <a:p>
            <a:pPr>
              <a:buFont typeface="Arial" panose="020B0604020202020204" pitchFamily="34" charset="0"/>
              <a:buChar char="•"/>
            </a:pPr>
            <a:r>
              <a:rPr lang="en-US" sz="2400" b="1" dirty="0"/>
              <a:t>Nike Stores</a:t>
            </a:r>
            <a:r>
              <a:rPr lang="en-US" sz="2400" dirty="0"/>
              <a:t> follow with </a:t>
            </a:r>
            <a:r>
              <a:rPr lang="en-US" sz="2400" b="1" dirty="0"/>
              <a:t>24.9%</a:t>
            </a:r>
            <a:r>
              <a:rPr lang="en-US" sz="2400" dirty="0"/>
              <a:t>, indicating solid offline presence</a:t>
            </a:r>
          </a:p>
        </p:txBody>
      </p:sp>
    </p:spTree>
    <p:extLst>
      <p:ext uri="{BB962C8B-B14F-4D97-AF65-F5344CB8AC3E}">
        <p14:creationId xmlns:p14="http://schemas.microsoft.com/office/powerpoint/2010/main" val="298364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graph of different colored bars&#10;&#10;AI-generated content may be incorrect.">
            <a:extLst>
              <a:ext uri="{FF2B5EF4-FFF2-40B4-BE49-F238E27FC236}">
                <a16:creationId xmlns:a16="http://schemas.microsoft.com/office/drawing/2014/main" id="{22DD4061-736D-DC29-6782-49E6ED3C1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329327" cy="4622243"/>
          </a:xfrm>
          <a:prstGeom prst="rect">
            <a:avLst/>
          </a:prstGeom>
        </p:spPr>
      </p:pic>
      <p:sp>
        <p:nvSpPr>
          <p:cNvPr id="13" name="Rectangle 12">
            <a:extLst>
              <a:ext uri="{FF2B5EF4-FFF2-40B4-BE49-F238E27FC236}">
                <a16:creationId xmlns:a16="http://schemas.microsoft.com/office/drawing/2014/main" id="{BEEE7C3E-B67D-9F2D-4B88-A20F49CC4812}"/>
              </a:ext>
            </a:extLst>
          </p:cNvPr>
          <p:cNvSpPr/>
          <p:nvPr/>
        </p:nvSpPr>
        <p:spPr>
          <a:xfrm>
            <a:off x="2394378" y="4688273"/>
            <a:ext cx="9023420" cy="119575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The graph shows that males have higher sales across all product lines specially running, lifestyle and basketball categories female sales are significant but consistently lower than male sales.</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7695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graph of blue bars&#10;&#10;AI-generated content may be incorrect.">
            <a:extLst>
              <a:ext uri="{FF2B5EF4-FFF2-40B4-BE49-F238E27FC236}">
                <a16:creationId xmlns:a16="http://schemas.microsoft.com/office/drawing/2014/main" id="{7A61F045-BF97-E73F-FD39-A3375794B7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31" y="0"/>
            <a:ext cx="11769969" cy="4590288"/>
          </a:xfrm>
          <a:prstGeom prst="rect">
            <a:avLst/>
          </a:prstGeom>
          <a:noFill/>
        </p:spPr>
      </p:pic>
      <p:sp>
        <p:nvSpPr>
          <p:cNvPr id="3" name="Rectangle 2">
            <a:extLst>
              <a:ext uri="{FF2B5EF4-FFF2-40B4-BE49-F238E27FC236}">
                <a16:creationId xmlns:a16="http://schemas.microsoft.com/office/drawing/2014/main" id="{3EEE3D53-F5B0-2760-06E6-A23487D1EEAA}"/>
              </a:ext>
            </a:extLst>
          </p:cNvPr>
          <p:cNvSpPr/>
          <p:nvPr/>
        </p:nvSpPr>
        <p:spPr>
          <a:xfrm>
            <a:off x="2929812" y="4945224"/>
            <a:ext cx="7623110" cy="12129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Rectangle 3">
            <a:extLst>
              <a:ext uri="{FF2B5EF4-FFF2-40B4-BE49-F238E27FC236}">
                <a16:creationId xmlns:a16="http://schemas.microsoft.com/office/drawing/2014/main" id="{9CEDB790-2A5A-3BC9-0AE1-85849DDAE550}"/>
              </a:ext>
            </a:extLst>
          </p:cNvPr>
          <p:cNvSpPr/>
          <p:nvPr/>
        </p:nvSpPr>
        <p:spPr>
          <a:xfrm>
            <a:off x="3200400" y="5225143"/>
            <a:ext cx="7856376" cy="93306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Rectangle 4">
            <a:extLst>
              <a:ext uri="{FF2B5EF4-FFF2-40B4-BE49-F238E27FC236}">
                <a16:creationId xmlns:a16="http://schemas.microsoft.com/office/drawing/2014/main" id="{925CB0BF-CF15-D4D6-EE23-0E6FA7302E78}"/>
              </a:ext>
            </a:extLst>
          </p:cNvPr>
          <p:cNvSpPr/>
          <p:nvPr/>
        </p:nvSpPr>
        <p:spPr>
          <a:xfrm>
            <a:off x="2631233" y="5029200"/>
            <a:ext cx="8882743" cy="134360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9C5DC48A-CD8D-8E72-2998-E76699353659}"/>
              </a:ext>
            </a:extLst>
          </p:cNvPr>
          <p:cNvSpPr/>
          <p:nvPr/>
        </p:nvSpPr>
        <p:spPr>
          <a:xfrm>
            <a:off x="2472612" y="4842588"/>
            <a:ext cx="8882743" cy="12129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Major metropolitan cities like Delhi Bangalore Ahmedabad and Mumbai records the highest number of Nike orders indicating strong market demand and brand presence in contrast smaller regions such as Nashik, Ludhiana show lower order values, suggesting lower brand reach.</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076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sales&#10;&#10;AI-generated content may be incorrect.">
            <a:extLst>
              <a:ext uri="{FF2B5EF4-FFF2-40B4-BE49-F238E27FC236}">
                <a16:creationId xmlns:a16="http://schemas.microsoft.com/office/drawing/2014/main" id="{621C08A3-0E01-D5F2-BA42-C29A3E0C1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0" cy="4694422"/>
          </a:xfrm>
          <a:prstGeom prst="rect">
            <a:avLst/>
          </a:prstGeom>
          <a:noFill/>
        </p:spPr>
      </p:pic>
      <p:sp>
        <p:nvSpPr>
          <p:cNvPr id="2" name="Rectangle 1">
            <a:extLst>
              <a:ext uri="{FF2B5EF4-FFF2-40B4-BE49-F238E27FC236}">
                <a16:creationId xmlns:a16="http://schemas.microsoft.com/office/drawing/2014/main" id="{89CD7C06-F8C2-FB11-B39D-B8FB7D4039C7}"/>
              </a:ext>
            </a:extLst>
          </p:cNvPr>
          <p:cNvSpPr/>
          <p:nvPr/>
        </p:nvSpPr>
        <p:spPr>
          <a:xfrm>
            <a:off x="2799184" y="5038531"/>
            <a:ext cx="8462865" cy="118498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Most Nike products priced between RS.8000 and RS.12000 show the highest sales volume indicating strong customer preference for this price range. Sales decline significantly beyond RS.15000 suggesting reduced demand for higher priced products. </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428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blue bars&#10;&#10;AI-generated content may be incorrect.">
            <a:extLst>
              <a:ext uri="{FF2B5EF4-FFF2-40B4-BE49-F238E27FC236}">
                <a16:creationId xmlns:a16="http://schemas.microsoft.com/office/drawing/2014/main" id="{8F95123C-E011-128B-20DA-D2A55BBD8C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249319" cy="4692580"/>
          </a:xfrm>
          <a:prstGeom prst="rect">
            <a:avLst/>
          </a:prstGeom>
          <a:noFill/>
        </p:spPr>
      </p:pic>
      <p:sp>
        <p:nvSpPr>
          <p:cNvPr id="11" name="Rectangle 10">
            <a:extLst>
              <a:ext uri="{FF2B5EF4-FFF2-40B4-BE49-F238E27FC236}">
                <a16:creationId xmlns:a16="http://schemas.microsoft.com/office/drawing/2014/main" id="{59795765-3BCB-7F41-0FEB-4D3A4F6A08BF}"/>
              </a:ext>
            </a:extLst>
          </p:cNvPr>
          <p:cNvSpPr/>
          <p:nvPr/>
        </p:nvSpPr>
        <p:spPr>
          <a:xfrm>
            <a:off x="2071396" y="4870579"/>
            <a:ext cx="9050693" cy="11196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Units Sold</a:t>
            </a:r>
            <a:r>
              <a:rPr lang="en-US" dirty="0">
                <a:latin typeface="Times New Roman" panose="02020603050405020304" pitchFamily="18" charset="0"/>
                <a:cs typeface="Times New Roman" panose="02020603050405020304" pitchFamily="18" charset="0"/>
              </a:rPr>
              <a:t>” column shows that most orders consisted of one unit with very few orders having higher quantities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132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sales chart&#10;&#10;AI-generated content may be incorrect.">
            <a:extLst>
              <a:ext uri="{FF2B5EF4-FFF2-40B4-BE49-F238E27FC236}">
                <a16:creationId xmlns:a16="http://schemas.microsoft.com/office/drawing/2014/main" id="{4E448D65-D3AD-6D94-BBB2-D5CEB52DD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047974" cy="4893547"/>
          </a:xfrm>
          <a:prstGeom prst="rect">
            <a:avLst/>
          </a:prstGeom>
          <a:noFill/>
        </p:spPr>
      </p:pic>
      <p:sp>
        <p:nvSpPr>
          <p:cNvPr id="6" name="Rectangle 5">
            <a:extLst>
              <a:ext uri="{FF2B5EF4-FFF2-40B4-BE49-F238E27FC236}">
                <a16:creationId xmlns:a16="http://schemas.microsoft.com/office/drawing/2014/main" id="{74EEA688-809B-FB08-1A06-3E3AF3E1BD6B}"/>
              </a:ext>
            </a:extLst>
          </p:cNvPr>
          <p:cNvSpPr/>
          <p:nvPr/>
        </p:nvSpPr>
        <p:spPr>
          <a:xfrm>
            <a:off x="2763296" y="5245240"/>
            <a:ext cx="8764316" cy="112541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dirty="0"/>
          </a:p>
        </p:txBody>
      </p:sp>
      <p:sp>
        <p:nvSpPr>
          <p:cNvPr id="2" name="Rectangle 1">
            <a:extLst>
              <a:ext uri="{FF2B5EF4-FFF2-40B4-BE49-F238E27FC236}">
                <a16:creationId xmlns:a16="http://schemas.microsoft.com/office/drawing/2014/main" id="{1ACDA279-6AB4-2EC7-D59A-CDFD5D174A8A}"/>
              </a:ext>
            </a:extLst>
          </p:cNvPr>
          <p:cNvSpPr/>
          <p:nvPr/>
        </p:nvSpPr>
        <p:spPr>
          <a:xfrm>
            <a:off x="3107094" y="5131837"/>
            <a:ext cx="8420518" cy="99837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285750" indent="-285750" 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analysis shows that product sizes 9,11 and 8 recorded highest sales indicating strong costumer preference for mid range sizes in contract smaller and larger sizes.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521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84C2E-6815-2D0F-D80F-6EE4FABD3E5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EF73E9F-CBCA-468A-9096-92B69AFD03AB}"/>
              </a:ext>
            </a:extLst>
          </p:cNvPr>
          <p:cNvSpPr/>
          <p:nvPr/>
        </p:nvSpPr>
        <p:spPr>
          <a:xfrm>
            <a:off x="3368842" y="0"/>
            <a:ext cx="5390147" cy="731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i="1" dirty="0">
                <a:latin typeface="Times New Roman" panose="02020603050405020304" pitchFamily="18" charset="0"/>
                <a:cs typeface="Times New Roman" panose="02020603050405020304" pitchFamily="18" charset="0"/>
              </a:rPr>
              <a:t>Insights &amp; Recommendations</a:t>
            </a:r>
            <a:r>
              <a:rPr lang="en-US" sz="2400" b="1" i="1" dirty="0"/>
              <a:t>:</a:t>
            </a:r>
          </a:p>
        </p:txBody>
      </p:sp>
      <p:sp>
        <p:nvSpPr>
          <p:cNvPr id="6" name="Rectangle 5">
            <a:extLst>
              <a:ext uri="{FF2B5EF4-FFF2-40B4-BE49-F238E27FC236}">
                <a16:creationId xmlns:a16="http://schemas.microsoft.com/office/drawing/2014/main" id="{B1E3F42A-563D-4DDE-8D8D-D25D3A980393}"/>
              </a:ext>
            </a:extLst>
          </p:cNvPr>
          <p:cNvSpPr/>
          <p:nvPr/>
        </p:nvSpPr>
        <p:spPr>
          <a:xfrm>
            <a:off x="0" y="572703"/>
            <a:ext cx="12192000" cy="73152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Product Strategy</a:t>
            </a:r>
            <a:r>
              <a:rPr lang="en-US" dirty="0"/>
              <a:t>: </a:t>
            </a:r>
          </a:p>
        </p:txBody>
      </p:sp>
      <p:sp>
        <p:nvSpPr>
          <p:cNvPr id="7" name="Rectangle 6">
            <a:extLst>
              <a:ext uri="{FF2B5EF4-FFF2-40B4-BE49-F238E27FC236}">
                <a16:creationId xmlns:a16="http://schemas.microsoft.com/office/drawing/2014/main" id="{A04D354C-0367-4AF1-822A-2C2E725CFF4C}"/>
              </a:ext>
            </a:extLst>
          </p:cNvPr>
          <p:cNvSpPr/>
          <p:nvPr/>
        </p:nvSpPr>
        <p:spPr>
          <a:xfrm>
            <a:off x="712268" y="1231431"/>
            <a:ext cx="11479731" cy="88372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t>Focus on Running and Lifestyle categories top revenue drivers.</a:t>
            </a:r>
          </a:p>
          <a:p>
            <a:pPr marL="285750" indent="-285750">
              <a:buFont typeface="Arial" panose="020B0604020202020204" pitchFamily="34" charset="0"/>
              <a:buChar char="•"/>
            </a:pPr>
            <a:r>
              <a:rPr lang="en-US" dirty="0"/>
              <a:t>Promote Kids and Football through targeted discounts and influencer marketing.</a:t>
            </a:r>
          </a:p>
          <a:p>
            <a:pPr marL="285750" indent="-285750">
              <a:buFont typeface="Arial" panose="020B0604020202020204" pitchFamily="34" charset="0"/>
              <a:buChar char="•"/>
            </a:pPr>
            <a:r>
              <a:rPr lang="en-US" dirty="0"/>
              <a:t>Strengthen mid-range(8K-12K) portfolio to match customer demand.</a:t>
            </a:r>
          </a:p>
        </p:txBody>
      </p:sp>
      <p:sp>
        <p:nvSpPr>
          <p:cNvPr id="8" name="Rectangle 7">
            <a:extLst>
              <a:ext uri="{FF2B5EF4-FFF2-40B4-BE49-F238E27FC236}">
                <a16:creationId xmlns:a16="http://schemas.microsoft.com/office/drawing/2014/main" id="{D477DB72-D421-423E-9384-6A6B17FEDCF6}"/>
              </a:ext>
            </a:extLst>
          </p:cNvPr>
          <p:cNvSpPr/>
          <p:nvPr/>
        </p:nvSpPr>
        <p:spPr>
          <a:xfrm>
            <a:off x="0" y="2070254"/>
            <a:ext cx="12086122" cy="41629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Seasonal Sales Planning</a:t>
            </a:r>
            <a:r>
              <a:rPr lang="en-US" dirty="0"/>
              <a:t>:</a:t>
            </a:r>
          </a:p>
        </p:txBody>
      </p:sp>
      <p:sp>
        <p:nvSpPr>
          <p:cNvPr id="10" name="Rectangle 9">
            <a:extLst>
              <a:ext uri="{FF2B5EF4-FFF2-40B4-BE49-F238E27FC236}">
                <a16:creationId xmlns:a16="http://schemas.microsoft.com/office/drawing/2014/main" id="{106DF4BA-B94F-4BB3-8651-570ECD2AF8E3}"/>
              </a:ext>
            </a:extLst>
          </p:cNvPr>
          <p:cNvSpPr/>
          <p:nvPr/>
        </p:nvSpPr>
        <p:spPr>
          <a:xfrm>
            <a:off x="712268" y="2420616"/>
            <a:ext cx="11601652" cy="114902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t>Revenue drops during May-July plan clearance or summer offers.</a:t>
            </a:r>
          </a:p>
          <a:p>
            <a:pPr marL="285750" indent="-285750">
              <a:buFont typeface="Arial" panose="020B0604020202020204" pitchFamily="34" charset="0"/>
              <a:buChar char="•"/>
            </a:pPr>
            <a:r>
              <a:rPr lang="en-US" dirty="0"/>
              <a:t>Peak in November-December- Increase stock and festival campaigns.</a:t>
            </a:r>
          </a:p>
          <a:p>
            <a:pPr marL="285750" indent="-285750">
              <a:buFont typeface="Arial" panose="020B0604020202020204" pitchFamily="34" charset="0"/>
              <a:buChar char="•"/>
            </a:pPr>
            <a:r>
              <a:rPr lang="en-US" dirty="0"/>
              <a:t>Use data analytics to improve seasonal demand forecasting.</a:t>
            </a:r>
          </a:p>
        </p:txBody>
      </p:sp>
      <p:sp>
        <p:nvSpPr>
          <p:cNvPr id="12" name="Rectangle 11">
            <a:extLst>
              <a:ext uri="{FF2B5EF4-FFF2-40B4-BE49-F238E27FC236}">
                <a16:creationId xmlns:a16="http://schemas.microsoft.com/office/drawing/2014/main" id="{71A59E4C-C945-42CC-8C2F-A80B53BC0D9B}"/>
              </a:ext>
            </a:extLst>
          </p:cNvPr>
          <p:cNvSpPr/>
          <p:nvPr/>
        </p:nvSpPr>
        <p:spPr>
          <a:xfrm>
            <a:off x="0" y="3603462"/>
            <a:ext cx="5678905" cy="1930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Channel Performance:</a:t>
            </a:r>
          </a:p>
        </p:txBody>
      </p:sp>
      <p:sp>
        <p:nvSpPr>
          <p:cNvPr id="13" name="Rectangle 12">
            <a:extLst>
              <a:ext uri="{FF2B5EF4-FFF2-40B4-BE49-F238E27FC236}">
                <a16:creationId xmlns:a16="http://schemas.microsoft.com/office/drawing/2014/main" id="{871BD423-76CA-4378-A156-3200FF4557E5}"/>
              </a:ext>
            </a:extLst>
          </p:cNvPr>
          <p:cNvSpPr/>
          <p:nvPr/>
        </p:nvSpPr>
        <p:spPr>
          <a:xfrm>
            <a:off x="712268" y="4040978"/>
            <a:ext cx="11672237" cy="60939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t>Nike.com leads with~35% sales – optimize online promotions.</a:t>
            </a:r>
          </a:p>
          <a:p>
            <a:pPr marL="285750" indent="-285750">
              <a:buFont typeface="Arial" panose="020B0604020202020204" pitchFamily="34" charset="0"/>
              <a:buChar char="•"/>
            </a:pPr>
            <a:r>
              <a:rPr lang="en-US" dirty="0"/>
              <a:t>Nike App(5%) needs engagement via app-only offers.</a:t>
            </a:r>
          </a:p>
          <a:p>
            <a:pPr marL="285750" indent="-285750">
              <a:buFont typeface="Arial" panose="020B0604020202020204" pitchFamily="34" charset="0"/>
              <a:buChar char="•"/>
            </a:pPr>
            <a:r>
              <a:rPr lang="en-US" dirty="0"/>
              <a:t>Maintain balanced stock between online and retail stores.</a:t>
            </a:r>
          </a:p>
        </p:txBody>
      </p:sp>
      <p:sp>
        <p:nvSpPr>
          <p:cNvPr id="14" name="Rectangle 13">
            <a:extLst>
              <a:ext uri="{FF2B5EF4-FFF2-40B4-BE49-F238E27FC236}">
                <a16:creationId xmlns:a16="http://schemas.microsoft.com/office/drawing/2014/main" id="{F55B02C0-2884-4BBB-B045-DE441BCADB9E}"/>
              </a:ext>
            </a:extLst>
          </p:cNvPr>
          <p:cNvSpPr/>
          <p:nvPr/>
        </p:nvSpPr>
        <p:spPr>
          <a:xfrm>
            <a:off x="0" y="4913476"/>
            <a:ext cx="4726004" cy="37719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Regional &amp; Pricing Focus:</a:t>
            </a:r>
          </a:p>
        </p:txBody>
      </p:sp>
      <p:sp>
        <p:nvSpPr>
          <p:cNvPr id="15" name="Rectangle 14">
            <a:extLst>
              <a:ext uri="{FF2B5EF4-FFF2-40B4-BE49-F238E27FC236}">
                <a16:creationId xmlns:a16="http://schemas.microsoft.com/office/drawing/2014/main" id="{4E238CA7-AE4E-4207-B583-EE146FFB7A87}"/>
              </a:ext>
            </a:extLst>
          </p:cNvPr>
          <p:cNvSpPr/>
          <p:nvPr/>
        </p:nvSpPr>
        <p:spPr>
          <a:xfrm>
            <a:off x="712268" y="5393150"/>
            <a:ext cx="9755204" cy="89214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t>Prioritize metro markets(Delhi, Bangalore, Mumbai) for higher ROI.</a:t>
            </a:r>
          </a:p>
          <a:p>
            <a:pPr marL="285750" indent="-285750">
              <a:buFont typeface="Arial" panose="020B0604020202020204" pitchFamily="34" charset="0"/>
              <a:buChar char="•"/>
            </a:pPr>
            <a:r>
              <a:rPr lang="en-US" dirty="0"/>
              <a:t>Expand reach in smaller cities through local promotions.</a:t>
            </a:r>
          </a:p>
          <a:p>
            <a:pPr marL="285750" indent="-285750">
              <a:buFont typeface="Arial" panose="020B0604020202020204" pitchFamily="34" charset="0"/>
              <a:buChar char="•"/>
            </a:pPr>
            <a:r>
              <a:rPr lang="en-US" dirty="0"/>
              <a:t>Maintain inventory in 8K- 12K range and sizes 8-11.</a:t>
            </a:r>
          </a:p>
        </p:txBody>
      </p:sp>
    </p:spTree>
    <p:extLst>
      <p:ext uri="{BB962C8B-B14F-4D97-AF65-F5344CB8AC3E}">
        <p14:creationId xmlns:p14="http://schemas.microsoft.com/office/powerpoint/2010/main" val="3732227857"/>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C783ECB53F814E96157D07BE095403" ma:contentTypeVersion="4" ma:contentTypeDescription="Create a new document." ma:contentTypeScope="" ma:versionID="8a367cdf2aeae741be539061c0da2132">
  <xsd:schema xmlns:xsd="http://www.w3.org/2001/XMLSchema" xmlns:xs="http://www.w3.org/2001/XMLSchema" xmlns:p="http://schemas.microsoft.com/office/2006/metadata/properties" xmlns:ns3="5212efac-b3ca-4026-9c7f-8b1936fe4fff" targetNamespace="http://schemas.microsoft.com/office/2006/metadata/properties" ma:root="true" ma:fieldsID="cb4ace312f53488b9bd3d5298c3eeec0" ns3:_="">
    <xsd:import namespace="5212efac-b3ca-4026-9c7f-8b1936fe4fff"/>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12efac-b3ca-4026-9c7f-8b1936fe4f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5212efac-b3ca-4026-9c7f-8b1936fe4fff"/>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D1FEAC53-8B95-4EF0-8171-7A2DFB25C4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12efac-b3ca-4026-9c7f-8b1936fe4f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1026</TotalTime>
  <Words>686</Words>
  <Application>Microsoft Office PowerPoint</Application>
  <PresentationFormat>Widescreen</PresentationFormat>
  <Paragraphs>65</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Franklin Gothic Book</vt:lpstr>
      <vt:lpstr>Franklin Gothic Demi</vt:lpstr>
      <vt:lpstr>Times New Roman</vt:lpstr>
      <vt:lpstr>Wingdings</vt:lpstr>
      <vt:lpstr>Custom</vt:lpstr>
      <vt:lpstr>Business Problem</vt:lpstr>
      <vt:lpstr>Project Flow</vt:lpstr>
      <vt:lpstr>Most Nike sales revenue falls between 10,000-20000 showing a  high concentration of mid-range sales. However, a few transaction reach beyond 1,00,000 indicating rare but reflecting lower demand for premium-priced products.</vt:lpstr>
      <vt:lpstr>Steady Growth(Jan-Apr)Sales start strong in the first quarter and keep rising till Apr showing early-year performance.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Problem</dc:title>
  <dc:creator>21121A04H8</dc:creator>
  <cp:lastModifiedBy>lokeshlm6485@gmail.com</cp:lastModifiedBy>
  <cp:revision>28</cp:revision>
  <dcterms:created xsi:type="dcterms:W3CDTF">2025-10-14T17:55:48Z</dcterms:created>
  <dcterms:modified xsi:type="dcterms:W3CDTF">2025-10-31T20:43:57Z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0x010100ACC783ECB53F814E96157D07BE095403</vt:lpwstr>
  </property>
</Properties>
</file>
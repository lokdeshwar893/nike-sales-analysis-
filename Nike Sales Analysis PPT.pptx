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8" r:id="rId4"/>
  </p:sldMasterIdLst>
  <p:notesMasterIdLst>
    <p:notesMasterId r:id="rId19"/>
  </p:notesMasterIdLst>
  <p:handoutMasterIdLst>
    <p:handoutMasterId r:id="rId20"/>
  </p:handoutMasterIdLst>
  <p:sldIdLst>
    <p:sldId id="410" r:id="rId5"/>
    <p:sldId id="383" r:id="rId6"/>
    <p:sldId id="409" r:id="rId7"/>
    <p:sldId id="389" r:id="rId8"/>
    <p:sldId id="391" r:id="rId9"/>
    <p:sldId id="397" r:id="rId10"/>
    <p:sldId id="408" r:id="rId11"/>
    <p:sldId id="406" r:id="rId12"/>
    <p:sldId id="405" r:id="rId13"/>
    <p:sldId id="404" r:id="rId14"/>
    <p:sldId id="403" r:id="rId15"/>
    <p:sldId id="398" r:id="rId16"/>
    <p:sldId id="411" r:id="rId17"/>
    <p:sldId id="413"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327" autoAdjust="0"/>
  </p:normalViewPr>
  <p:slideViewPr>
    <p:cSldViewPr snapToGrid="0">
      <p:cViewPr varScale="1">
        <p:scale>
          <a:sx n="66" d="100"/>
          <a:sy n="66" d="100"/>
        </p:scale>
        <p:origin x="668" y="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58" d="100"/>
          <a:sy n="58" d="100"/>
        </p:scale>
        <p:origin x="3240"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6DB8C8-8D1B-457F-8CE5-7CFAA0081100}" type="doc">
      <dgm:prSet loTypeId="urn:microsoft.com/office/officeart/2005/8/layout/process5" loCatId="process" qsTypeId="urn:microsoft.com/office/officeart/2005/8/quickstyle/3d2" qsCatId="3D" csTypeId="urn:microsoft.com/office/officeart/2005/8/colors/accent3_2" csCatId="accent3" phldr="1"/>
      <dgm:spPr/>
      <dgm:t>
        <a:bodyPr/>
        <a:lstStyle/>
        <a:p>
          <a:endParaRPr lang="en-IN"/>
        </a:p>
      </dgm:t>
    </dgm:pt>
    <dgm:pt modelId="{430DE875-B4F1-49B3-B1D9-DBF8962D009D}">
      <dgm:prSet phldrT="[Text]"/>
      <dgm:spPr/>
      <dgm:t>
        <a:bodyPr/>
        <a:lstStyle/>
        <a:p>
          <a:r>
            <a:rPr lang="en-US" b="1" dirty="0"/>
            <a:t>Data Collection : </a:t>
          </a:r>
          <a:r>
            <a:rPr lang="en-US" dirty="0"/>
            <a:t>Kaggle sales dataset </a:t>
          </a:r>
          <a:endParaRPr lang="en-IN" dirty="0"/>
        </a:p>
      </dgm:t>
    </dgm:pt>
    <dgm:pt modelId="{5B0F561B-254B-4FB4-8DE5-836B1FAADEAA}" type="parTrans" cxnId="{DE5149E3-B1C2-47F7-94FB-21DF4C351861}">
      <dgm:prSet/>
      <dgm:spPr/>
      <dgm:t>
        <a:bodyPr/>
        <a:lstStyle/>
        <a:p>
          <a:endParaRPr lang="en-IN"/>
        </a:p>
      </dgm:t>
    </dgm:pt>
    <dgm:pt modelId="{D361EA61-B1D3-46A2-B547-31A336B50A52}" type="sibTrans" cxnId="{DE5149E3-B1C2-47F7-94FB-21DF4C351861}">
      <dgm:prSet/>
      <dgm:spPr/>
      <dgm:t>
        <a:bodyPr/>
        <a:lstStyle/>
        <a:p>
          <a:endParaRPr lang="en-IN"/>
        </a:p>
      </dgm:t>
    </dgm:pt>
    <dgm:pt modelId="{E5717A89-5208-4AFF-A158-95E9C86C6AEB}">
      <dgm:prSet phldrT="[Text]"/>
      <dgm:spPr/>
      <dgm:t>
        <a:bodyPr/>
        <a:lstStyle/>
        <a:p>
          <a:r>
            <a:rPr lang="en-US" b="1" dirty="0"/>
            <a:t>Data Understanding </a:t>
          </a:r>
          <a:r>
            <a:rPr lang="en-US" dirty="0"/>
            <a:t>: Analyzed 50K+ records </a:t>
          </a:r>
          <a:endParaRPr lang="en-IN" dirty="0"/>
        </a:p>
      </dgm:t>
    </dgm:pt>
    <dgm:pt modelId="{12691638-C2E6-4DD8-80F3-D0F893ACD082}" type="parTrans" cxnId="{AF84084F-9963-442E-9FBC-8914D09023A0}">
      <dgm:prSet/>
      <dgm:spPr/>
      <dgm:t>
        <a:bodyPr/>
        <a:lstStyle/>
        <a:p>
          <a:endParaRPr lang="en-IN"/>
        </a:p>
      </dgm:t>
    </dgm:pt>
    <dgm:pt modelId="{AFDC2F65-965C-4397-9092-DE0614916467}" type="sibTrans" cxnId="{AF84084F-9963-442E-9FBC-8914D09023A0}">
      <dgm:prSet/>
      <dgm:spPr/>
      <dgm:t>
        <a:bodyPr/>
        <a:lstStyle/>
        <a:p>
          <a:endParaRPr lang="en-IN"/>
        </a:p>
      </dgm:t>
    </dgm:pt>
    <dgm:pt modelId="{C5DF56DE-C2A0-4873-AB16-AAC17F710587}">
      <dgm:prSet phldrT="[Text]"/>
      <dgm:spPr/>
      <dgm:t>
        <a:bodyPr/>
        <a:lstStyle/>
        <a:p>
          <a:r>
            <a:rPr lang="en-US" b="1" dirty="0"/>
            <a:t>Data Exploration </a:t>
          </a:r>
          <a:r>
            <a:rPr lang="en-US" dirty="0"/>
            <a:t>: Checked nulls, outliers, distributions </a:t>
          </a:r>
          <a:endParaRPr lang="en-IN" dirty="0"/>
        </a:p>
      </dgm:t>
    </dgm:pt>
    <dgm:pt modelId="{1766A10A-30CE-44DD-93A5-C791FBFA9F68}" type="parTrans" cxnId="{570231F8-F832-4DE0-B49A-C6F532C801E5}">
      <dgm:prSet/>
      <dgm:spPr/>
      <dgm:t>
        <a:bodyPr/>
        <a:lstStyle/>
        <a:p>
          <a:endParaRPr lang="en-IN"/>
        </a:p>
      </dgm:t>
    </dgm:pt>
    <dgm:pt modelId="{10520751-C2B5-454F-992D-361170BE3DA9}" type="sibTrans" cxnId="{570231F8-F832-4DE0-B49A-C6F532C801E5}">
      <dgm:prSet/>
      <dgm:spPr/>
      <dgm:t>
        <a:bodyPr/>
        <a:lstStyle/>
        <a:p>
          <a:endParaRPr lang="en-IN"/>
        </a:p>
      </dgm:t>
    </dgm:pt>
    <dgm:pt modelId="{8914A7AB-3F6A-476B-A053-DE54A97346B6}">
      <dgm:prSet phldrT="[Text]"/>
      <dgm:spPr/>
      <dgm:t>
        <a:bodyPr/>
        <a:lstStyle/>
        <a:p>
          <a:r>
            <a:rPr lang="en-US" b="1" dirty="0"/>
            <a:t>Data Cleaning : </a:t>
          </a:r>
          <a:r>
            <a:rPr lang="en-US" dirty="0"/>
            <a:t>Removed incorrect data </a:t>
          </a:r>
          <a:endParaRPr lang="en-IN" dirty="0"/>
        </a:p>
      </dgm:t>
    </dgm:pt>
    <dgm:pt modelId="{B0B857AE-3F78-4B3E-A3CA-037C77F52F8F}" type="parTrans" cxnId="{A73D1636-8D59-4359-A2AE-4EBFBCB42232}">
      <dgm:prSet/>
      <dgm:spPr/>
      <dgm:t>
        <a:bodyPr/>
        <a:lstStyle/>
        <a:p>
          <a:endParaRPr lang="en-IN"/>
        </a:p>
      </dgm:t>
    </dgm:pt>
    <dgm:pt modelId="{79ECBB3F-EB8B-4675-B614-CD84B7B77688}" type="sibTrans" cxnId="{A73D1636-8D59-4359-A2AE-4EBFBCB42232}">
      <dgm:prSet/>
      <dgm:spPr/>
      <dgm:t>
        <a:bodyPr/>
        <a:lstStyle/>
        <a:p>
          <a:endParaRPr lang="en-IN"/>
        </a:p>
      </dgm:t>
    </dgm:pt>
    <dgm:pt modelId="{E5955FB2-F786-4A5D-84DF-8C2B43CE115D}">
      <dgm:prSet phldrT="[Text]"/>
      <dgm:spPr/>
      <dgm:t>
        <a:bodyPr/>
        <a:lstStyle/>
        <a:p>
          <a:r>
            <a:rPr lang="en-US" b="1" dirty="0"/>
            <a:t>Visualization &amp; Insights </a:t>
          </a:r>
          <a:r>
            <a:rPr lang="en-US" dirty="0"/>
            <a:t>: Charts for sales trends, top products, regions, peak months</a:t>
          </a:r>
          <a:endParaRPr lang="en-IN" dirty="0"/>
        </a:p>
      </dgm:t>
    </dgm:pt>
    <dgm:pt modelId="{C4DC64B9-C8A3-44B1-B467-B6E1FDCB2681}" type="parTrans" cxnId="{D5F5F12B-0370-486F-B220-253F79F38BE1}">
      <dgm:prSet/>
      <dgm:spPr/>
      <dgm:t>
        <a:bodyPr/>
        <a:lstStyle/>
        <a:p>
          <a:endParaRPr lang="en-IN"/>
        </a:p>
      </dgm:t>
    </dgm:pt>
    <dgm:pt modelId="{6D501EB1-4698-4861-8AC8-4D47A1906C12}" type="sibTrans" cxnId="{D5F5F12B-0370-486F-B220-253F79F38BE1}">
      <dgm:prSet/>
      <dgm:spPr/>
      <dgm:t>
        <a:bodyPr/>
        <a:lstStyle/>
        <a:p>
          <a:endParaRPr lang="en-IN"/>
        </a:p>
      </dgm:t>
    </dgm:pt>
    <dgm:pt modelId="{715AD00F-6552-4AE7-8721-3179E0D054C7}" type="pres">
      <dgm:prSet presAssocID="{D96DB8C8-8D1B-457F-8CE5-7CFAA0081100}" presName="diagram" presStyleCnt="0">
        <dgm:presLayoutVars>
          <dgm:dir/>
          <dgm:resizeHandles val="exact"/>
        </dgm:presLayoutVars>
      </dgm:prSet>
      <dgm:spPr/>
    </dgm:pt>
    <dgm:pt modelId="{F5EE7EA5-1188-4C94-B8B4-1C44CD1491BA}" type="pres">
      <dgm:prSet presAssocID="{430DE875-B4F1-49B3-B1D9-DBF8962D009D}" presName="node" presStyleLbl="node1" presStyleIdx="0" presStyleCnt="5" custScaleY="71370">
        <dgm:presLayoutVars>
          <dgm:bulletEnabled val="1"/>
        </dgm:presLayoutVars>
      </dgm:prSet>
      <dgm:spPr/>
    </dgm:pt>
    <dgm:pt modelId="{EF3A4376-D61B-4F4C-8ED1-A564E16747DB}" type="pres">
      <dgm:prSet presAssocID="{D361EA61-B1D3-46A2-B547-31A336B50A52}" presName="sibTrans" presStyleLbl="sibTrans2D1" presStyleIdx="0" presStyleCnt="4"/>
      <dgm:spPr/>
    </dgm:pt>
    <dgm:pt modelId="{47D3A630-CE49-449A-916C-DE95222F0DF9}" type="pres">
      <dgm:prSet presAssocID="{D361EA61-B1D3-46A2-B547-31A336B50A52}" presName="connectorText" presStyleLbl="sibTrans2D1" presStyleIdx="0" presStyleCnt="4"/>
      <dgm:spPr/>
    </dgm:pt>
    <dgm:pt modelId="{8471FC85-03E1-4398-A2DD-82DAE101B1FA}" type="pres">
      <dgm:prSet presAssocID="{E5717A89-5208-4AFF-A158-95E9C86C6AEB}" presName="node" presStyleLbl="node1" presStyleIdx="1" presStyleCnt="5" custScaleY="76549" custLinFactNeighborX="311" custLinFactNeighborY="1036">
        <dgm:presLayoutVars>
          <dgm:bulletEnabled val="1"/>
        </dgm:presLayoutVars>
      </dgm:prSet>
      <dgm:spPr/>
    </dgm:pt>
    <dgm:pt modelId="{394D406B-B88D-4730-9269-6C1E65AF8F31}" type="pres">
      <dgm:prSet presAssocID="{AFDC2F65-965C-4397-9092-DE0614916467}" presName="sibTrans" presStyleLbl="sibTrans2D1" presStyleIdx="1" presStyleCnt="4"/>
      <dgm:spPr/>
    </dgm:pt>
    <dgm:pt modelId="{D1E99CFD-8B5C-46AB-871E-97CE0E05892C}" type="pres">
      <dgm:prSet presAssocID="{AFDC2F65-965C-4397-9092-DE0614916467}" presName="connectorText" presStyleLbl="sibTrans2D1" presStyleIdx="1" presStyleCnt="4"/>
      <dgm:spPr/>
    </dgm:pt>
    <dgm:pt modelId="{F36AC5F1-1723-42E8-B83D-8587D22541C5}" type="pres">
      <dgm:prSet presAssocID="{C5DF56DE-C2A0-4873-AB16-AAC17F710587}" presName="node" presStyleLbl="node1" presStyleIdx="2" presStyleCnt="5" custScaleY="72406">
        <dgm:presLayoutVars>
          <dgm:bulletEnabled val="1"/>
        </dgm:presLayoutVars>
      </dgm:prSet>
      <dgm:spPr/>
    </dgm:pt>
    <dgm:pt modelId="{3DB97B41-741F-4E54-BF04-FDD84021F5C2}" type="pres">
      <dgm:prSet presAssocID="{10520751-C2B5-454F-992D-361170BE3DA9}" presName="sibTrans" presStyleLbl="sibTrans2D1" presStyleIdx="2" presStyleCnt="4"/>
      <dgm:spPr/>
    </dgm:pt>
    <dgm:pt modelId="{BFB97AFE-B048-47FF-AB0E-C97C16A08751}" type="pres">
      <dgm:prSet presAssocID="{10520751-C2B5-454F-992D-361170BE3DA9}" presName="connectorText" presStyleLbl="sibTrans2D1" presStyleIdx="2" presStyleCnt="4"/>
      <dgm:spPr/>
    </dgm:pt>
    <dgm:pt modelId="{38803D42-11D6-4D1F-999F-4DCAA4C5B9B1}" type="pres">
      <dgm:prSet presAssocID="{8914A7AB-3F6A-476B-A053-DE54A97346B6}" presName="node" presStyleLbl="node1" presStyleIdx="3" presStyleCnt="5" custScaleY="78453">
        <dgm:presLayoutVars>
          <dgm:bulletEnabled val="1"/>
        </dgm:presLayoutVars>
      </dgm:prSet>
      <dgm:spPr/>
    </dgm:pt>
    <dgm:pt modelId="{6401D501-0828-4884-9F2F-7BDE0D576233}" type="pres">
      <dgm:prSet presAssocID="{79ECBB3F-EB8B-4675-B614-CD84B7B77688}" presName="sibTrans" presStyleLbl="sibTrans2D1" presStyleIdx="3" presStyleCnt="4"/>
      <dgm:spPr/>
    </dgm:pt>
    <dgm:pt modelId="{9E090E06-59D1-4AB7-B01C-62F42E0159B6}" type="pres">
      <dgm:prSet presAssocID="{79ECBB3F-EB8B-4675-B614-CD84B7B77688}" presName="connectorText" presStyleLbl="sibTrans2D1" presStyleIdx="3" presStyleCnt="4"/>
      <dgm:spPr/>
    </dgm:pt>
    <dgm:pt modelId="{ACC6335D-1835-4A47-95FC-101EEFAC4DEC}" type="pres">
      <dgm:prSet presAssocID="{E5955FB2-F786-4A5D-84DF-8C2B43CE115D}" presName="node" presStyleLbl="node1" presStyleIdx="4" presStyleCnt="5" custScaleY="77417">
        <dgm:presLayoutVars>
          <dgm:bulletEnabled val="1"/>
        </dgm:presLayoutVars>
      </dgm:prSet>
      <dgm:spPr/>
    </dgm:pt>
  </dgm:ptLst>
  <dgm:cxnLst>
    <dgm:cxn modelId="{F4B18713-AC9D-4115-8CBB-53335E8A851E}" type="presOf" srcId="{8914A7AB-3F6A-476B-A053-DE54A97346B6}" destId="{38803D42-11D6-4D1F-999F-4DCAA4C5B9B1}" srcOrd="0" destOrd="0" presId="urn:microsoft.com/office/officeart/2005/8/layout/process5"/>
    <dgm:cxn modelId="{4F78D21D-3D90-4435-843A-7CA7914255EF}" type="presOf" srcId="{C5DF56DE-C2A0-4873-AB16-AAC17F710587}" destId="{F36AC5F1-1723-42E8-B83D-8587D22541C5}" srcOrd="0" destOrd="0" presId="urn:microsoft.com/office/officeart/2005/8/layout/process5"/>
    <dgm:cxn modelId="{D5F5F12B-0370-486F-B220-253F79F38BE1}" srcId="{D96DB8C8-8D1B-457F-8CE5-7CFAA0081100}" destId="{E5955FB2-F786-4A5D-84DF-8C2B43CE115D}" srcOrd="4" destOrd="0" parTransId="{C4DC64B9-C8A3-44B1-B467-B6E1FDCB2681}" sibTransId="{6D501EB1-4698-4861-8AC8-4D47A1906C12}"/>
    <dgm:cxn modelId="{A73D1636-8D59-4359-A2AE-4EBFBCB42232}" srcId="{D96DB8C8-8D1B-457F-8CE5-7CFAA0081100}" destId="{8914A7AB-3F6A-476B-A053-DE54A97346B6}" srcOrd="3" destOrd="0" parTransId="{B0B857AE-3F78-4B3E-A3CA-037C77F52F8F}" sibTransId="{79ECBB3F-EB8B-4675-B614-CD84B7B77688}"/>
    <dgm:cxn modelId="{7EDA043E-8A37-4FF3-932A-8E614B5C42F1}" type="presOf" srcId="{79ECBB3F-EB8B-4675-B614-CD84B7B77688}" destId="{6401D501-0828-4884-9F2F-7BDE0D576233}" srcOrd="0" destOrd="0" presId="urn:microsoft.com/office/officeart/2005/8/layout/process5"/>
    <dgm:cxn modelId="{C687DE40-5544-4566-AFD2-E33A04B83795}" type="presOf" srcId="{AFDC2F65-965C-4397-9092-DE0614916467}" destId="{394D406B-B88D-4730-9269-6C1E65AF8F31}" srcOrd="0" destOrd="0" presId="urn:microsoft.com/office/officeart/2005/8/layout/process5"/>
    <dgm:cxn modelId="{B149FC6A-04CE-4766-A414-EE49BAD035D8}" type="presOf" srcId="{D361EA61-B1D3-46A2-B547-31A336B50A52}" destId="{EF3A4376-D61B-4F4C-8ED1-A564E16747DB}" srcOrd="0" destOrd="0" presId="urn:microsoft.com/office/officeart/2005/8/layout/process5"/>
    <dgm:cxn modelId="{CDF5FC6B-282B-4979-8D8C-74BD43452670}" type="presOf" srcId="{79ECBB3F-EB8B-4675-B614-CD84B7B77688}" destId="{9E090E06-59D1-4AB7-B01C-62F42E0159B6}" srcOrd="1" destOrd="0" presId="urn:microsoft.com/office/officeart/2005/8/layout/process5"/>
    <dgm:cxn modelId="{AF84084F-9963-442E-9FBC-8914D09023A0}" srcId="{D96DB8C8-8D1B-457F-8CE5-7CFAA0081100}" destId="{E5717A89-5208-4AFF-A158-95E9C86C6AEB}" srcOrd="1" destOrd="0" parTransId="{12691638-C2E6-4DD8-80F3-D0F893ACD082}" sibTransId="{AFDC2F65-965C-4397-9092-DE0614916467}"/>
    <dgm:cxn modelId="{8B769E73-06E9-4BF7-8AE0-887013B3B803}" type="presOf" srcId="{10520751-C2B5-454F-992D-361170BE3DA9}" destId="{BFB97AFE-B048-47FF-AB0E-C97C16A08751}" srcOrd="1" destOrd="0" presId="urn:microsoft.com/office/officeart/2005/8/layout/process5"/>
    <dgm:cxn modelId="{FC17808B-4C4E-4A40-8096-D12147DD429B}" type="presOf" srcId="{E5955FB2-F786-4A5D-84DF-8C2B43CE115D}" destId="{ACC6335D-1835-4A47-95FC-101EEFAC4DEC}" srcOrd="0" destOrd="0" presId="urn:microsoft.com/office/officeart/2005/8/layout/process5"/>
    <dgm:cxn modelId="{C2FE34A0-66CC-4B02-8260-2B6E6FBD769D}" type="presOf" srcId="{AFDC2F65-965C-4397-9092-DE0614916467}" destId="{D1E99CFD-8B5C-46AB-871E-97CE0E05892C}" srcOrd="1" destOrd="0" presId="urn:microsoft.com/office/officeart/2005/8/layout/process5"/>
    <dgm:cxn modelId="{B6C9ACD2-9620-4430-87E6-4458BAA10E8F}" type="presOf" srcId="{E5717A89-5208-4AFF-A158-95E9C86C6AEB}" destId="{8471FC85-03E1-4398-A2DD-82DAE101B1FA}" srcOrd="0" destOrd="0" presId="urn:microsoft.com/office/officeart/2005/8/layout/process5"/>
    <dgm:cxn modelId="{8A4534D7-1F16-4B28-AA4D-7E72888BDB47}" type="presOf" srcId="{430DE875-B4F1-49B3-B1D9-DBF8962D009D}" destId="{F5EE7EA5-1188-4C94-B8B4-1C44CD1491BA}" srcOrd="0" destOrd="0" presId="urn:microsoft.com/office/officeart/2005/8/layout/process5"/>
    <dgm:cxn modelId="{CAC05ED9-56E2-4D07-8A02-633982DECC48}" type="presOf" srcId="{10520751-C2B5-454F-992D-361170BE3DA9}" destId="{3DB97B41-741F-4E54-BF04-FDD84021F5C2}" srcOrd="0" destOrd="0" presId="urn:microsoft.com/office/officeart/2005/8/layout/process5"/>
    <dgm:cxn modelId="{E7A35DDA-7564-4D48-B314-D8D7037F514D}" type="presOf" srcId="{D96DB8C8-8D1B-457F-8CE5-7CFAA0081100}" destId="{715AD00F-6552-4AE7-8721-3179E0D054C7}" srcOrd="0" destOrd="0" presId="urn:microsoft.com/office/officeart/2005/8/layout/process5"/>
    <dgm:cxn modelId="{DE5149E3-B1C2-47F7-94FB-21DF4C351861}" srcId="{D96DB8C8-8D1B-457F-8CE5-7CFAA0081100}" destId="{430DE875-B4F1-49B3-B1D9-DBF8962D009D}" srcOrd="0" destOrd="0" parTransId="{5B0F561B-254B-4FB4-8DE5-836B1FAADEAA}" sibTransId="{D361EA61-B1D3-46A2-B547-31A336B50A52}"/>
    <dgm:cxn modelId="{311526F6-FF30-4E85-9E51-36D15F7EEFB3}" type="presOf" srcId="{D361EA61-B1D3-46A2-B547-31A336B50A52}" destId="{47D3A630-CE49-449A-916C-DE95222F0DF9}" srcOrd="1" destOrd="0" presId="urn:microsoft.com/office/officeart/2005/8/layout/process5"/>
    <dgm:cxn modelId="{570231F8-F832-4DE0-B49A-C6F532C801E5}" srcId="{D96DB8C8-8D1B-457F-8CE5-7CFAA0081100}" destId="{C5DF56DE-C2A0-4873-AB16-AAC17F710587}" srcOrd="2" destOrd="0" parTransId="{1766A10A-30CE-44DD-93A5-C791FBFA9F68}" sibTransId="{10520751-C2B5-454F-992D-361170BE3DA9}"/>
    <dgm:cxn modelId="{91477AC4-7EEE-4CCA-8FF8-70D4A47D8C07}" type="presParOf" srcId="{715AD00F-6552-4AE7-8721-3179E0D054C7}" destId="{F5EE7EA5-1188-4C94-B8B4-1C44CD1491BA}" srcOrd="0" destOrd="0" presId="urn:microsoft.com/office/officeart/2005/8/layout/process5"/>
    <dgm:cxn modelId="{2E2E4ADE-7AB9-4CE9-9632-8C8FD16797E2}" type="presParOf" srcId="{715AD00F-6552-4AE7-8721-3179E0D054C7}" destId="{EF3A4376-D61B-4F4C-8ED1-A564E16747DB}" srcOrd="1" destOrd="0" presId="urn:microsoft.com/office/officeart/2005/8/layout/process5"/>
    <dgm:cxn modelId="{A48BC9C1-9E75-42DD-90DB-ED341FAC6422}" type="presParOf" srcId="{EF3A4376-D61B-4F4C-8ED1-A564E16747DB}" destId="{47D3A630-CE49-449A-916C-DE95222F0DF9}" srcOrd="0" destOrd="0" presId="urn:microsoft.com/office/officeart/2005/8/layout/process5"/>
    <dgm:cxn modelId="{BC09F12A-73B9-4035-B13D-3FFE40C28DB5}" type="presParOf" srcId="{715AD00F-6552-4AE7-8721-3179E0D054C7}" destId="{8471FC85-03E1-4398-A2DD-82DAE101B1FA}" srcOrd="2" destOrd="0" presId="urn:microsoft.com/office/officeart/2005/8/layout/process5"/>
    <dgm:cxn modelId="{DE2D8FF6-4E61-4858-83BF-0999FF0F55F2}" type="presParOf" srcId="{715AD00F-6552-4AE7-8721-3179E0D054C7}" destId="{394D406B-B88D-4730-9269-6C1E65AF8F31}" srcOrd="3" destOrd="0" presId="urn:microsoft.com/office/officeart/2005/8/layout/process5"/>
    <dgm:cxn modelId="{1438B814-4134-49EB-A526-0665165F2AC4}" type="presParOf" srcId="{394D406B-B88D-4730-9269-6C1E65AF8F31}" destId="{D1E99CFD-8B5C-46AB-871E-97CE0E05892C}" srcOrd="0" destOrd="0" presId="urn:microsoft.com/office/officeart/2005/8/layout/process5"/>
    <dgm:cxn modelId="{A292DA5E-0960-41BE-B449-2A3783470A9A}" type="presParOf" srcId="{715AD00F-6552-4AE7-8721-3179E0D054C7}" destId="{F36AC5F1-1723-42E8-B83D-8587D22541C5}" srcOrd="4" destOrd="0" presId="urn:microsoft.com/office/officeart/2005/8/layout/process5"/>
    <dgm:cxn modelId="{A3827FBE-B4F8-4E44-A723-3515A11A47A1}" type="presParOf" srcId="{715AD00F-6552-4AE7-8721-3179E0D054C7}" destId="{3DB97B41-741F-4E54-BF04-FDD84021F5C2}" srcOrd="5" destOrd="0" presId="urn:microsoft.com/office/officeart/2005/8/layout/process5"/>
    <dgm:cxn modelId="{58588C4A-B57D-496D-B4D7-833C2C5B9FCC}" type="presParOf" srcId="{3DB97B41-741F-4E54-BF04-FDD84021F5C2}" destId="{BFB97AFE-B048-47FF-AB0E-C97C16A08751}" srcOrd="0" destOrd="0" presId="urn:microsoft.com/office/officeart/2005/8/layout/process5"/>
    <dgm:cxn modelId="{D30E9ED0-A6DF-4470-A355-13D45E2537EF}" type="presParOf" srcId="{715AD00F-6552-4AE7-8721-3179E0D054C7}" destId="{38803D42-11D6-4D1F-999F-4DCAA4C5B9B1}" srcOrd="6" destOrd="0" presId="urn:microsoft.com/office/officeart/2005/8/layout/process5"/>
    <dgm:cxn modelId="{FB9CFA7C-EE08-4F63-99A5-B38F95FE14C7}" type="presParOf" srcId="{715AD00F-6552-4AE7-8721-3179E0D054C7}" destId="{6401D501-0828-4884-9F2F-7BDE0D576233}" srcOrd="7" destOrd="0" presId="urn:microsoft.com/office/officeart/2005/8/layout/process5"/>
    <dgm:cxn modelId="{DFF7B192-6EDE-4CA9-BAAA-983FCD710006}" type="presParOf" srcId="{6401D501-0828-4884-9F2F-7BDE0D576233}" destId="{9E090E06-59D1-4AB7-B01C-62F42E0159B6}" srcOrd="0" destOrd="0" presId="urn:microsoft.com/office/officeart/2005/8/layout/process5"/>
    <dgm:cxn modelId="{7E5A9CD1-3BBD-4997-931F-AA4FFFED0048}" type="presParOf" srcId="{715AD00F-6552-4AE7-8721-3179E0D054C7}" destId="{ACC6335D-1835-4A47-95FC-101EEFAC4DEC}" srcOrd="8" destOrd="0" presId="urn:microsoft.com/office/officeart/2005/8/layout/process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EE7EA5-1188-4C94-B8B4-1C44CD1491BA}">
      <dsp:nvSpPr>
        <dsp:cNvPr id="0" name=""/>
        <dsp:cNvSpPr/>
      </dsp:nvSpPr>
      <dsp:spPr>
        <a:xfrm>
          <a:off x="1233" y="242445"/>
          <a:ext cx="2630982" cy="1126639"/>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t>Data Collection : </a:t>
          </a:r>
          <a:r>
            <a:rPr lang="en-US" sz="1900" kern="1200" dirty="0"/>
            <a:t>Kaggle sales dataset </a:t>
          </a:r>
          <a:endParaRPr lang="en-IN" sz="1900" kern="1200" dirty="0"/>
        </a:p>
      </dsp:txBody>
      <dsp:txXfrm>
        <a:off x="34231" y="275443"/>
        <a:ext cx="2564986" cy="1060643"/>
      </dsp:txXfrm>
    </dsp:sp>
    <dsp:sp modelId="{EF3A4376-D61B-4F4C-8ED1-A564E16747DB}">
      <dsp:nvSpPr>
        <dsp:cNvPr id="0" name=""/>
        <dsp:cNvSpPr/>
      </dsp:nvSpPr>
      <dsp:spPr>
        <a:xfrm rot="15258">
          <a:off x="2864011" y="487630"/>
          <a:ext cx="558427" cy="652483"/>
        </a:xfrm>
        <a:prstGeom prst="rightArrow">
          <a:avLst>
            <a:gd name="adj1" fmla="val 60000"/>
            <a:gd name="adj2" fmla="val 50000"/>
          </a:avLst>
        </a:prstGeom>
        <a:solidFill>
          <a:schemeClr val="accent3">
            <a:tint val="60000"/>
            <a:hueOff val="0"/>
            <a:satOff val="0"/>
            <a:lumOff val="0"/>
            <a:alphaOff val="0"/>
          </a:schemeClr>
        </a:solidFill>
        <a:ln>
          <a:noFill/>
        </a:ln>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a:off x="2864012" y="617755"/>
        <a:ext cx="390899" cy="391489"/>
      </dsp:txXfrm>
    </dsp:sp>
    <dsp:sp modelId="{8471FC85-03E1-4398-A2DD-82DAE101B1FA}">
      <dsp:nvSpPr>
        <dsp:cNvPr id="0" name=""/>
        <dsp:cNvSpPr/>
      </dsp:nvSpPr>
      <dsp:spPr>
        <a:xfrm>
          <a:off x="3685842" y="217922"/>
          <a:ext cx="2630982" cy="1208394"/>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t>Data Understanding </a:t>
          </a:r>
          <a:r>
            <a:rPr lang="en-US" sz="1900" kern="1200" dirty="0"/>
            <a:t>: Analyzed 50K+ records </a:t>
          </a:r>
          <a:endParaRPr lang="en-IN" sz="1900" kern="1200" dirty="0"/>
        </a:p>
      </dsp:txBody>
      <dsp:txXfrm>
        <a:off x="3721235" y="253315"/>
        <a:ext cx="2560196" cy="1137608"/>
      </dsp:txXfrm>
    </dsp:sp>
    <dsp:sp modelId="{394D406B-B88D-4730-9269-6C1E65AF8F31}">
      <dsp:nvSpPr>
        <dsp:cNvPr id="0" name=""/>
        <dsp:cNvSpPr/>
      </dsp:nvSpPr>
      <dsp:spPr>
        <a:xfrm rot="5401877">
          <a:off x="4713518" y="1625702"/>
          <a:ext cx="574396" cy="652483"/>
        </a:xfrm>
        <a:prstGeom prst="rightArrow">
          <a:avLst>
            <a:gd name="adj1" fmla="val 60000"/>
            <a:gd name="adj2" fmla="val 50000"/>
          </a:avLst>
        </a:prstGeom>
        <a:solidFill>
          <a:schemeClr val="accent3">
            <a:tint val="60000"/>
            <a:hueOff val="0"/>
            <a:satOff val="0"/>
            <a:lumOff val="0"/>
            <a:alphaOff val="0"/>
          </a:schemeClr>
        </a:solidFill>
        <a:ln>
          <a:noFill/>
        </a:ln>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5400000">
        <a:off x="4805019" y="1664746"/>
        <a:ext cx="391489" cy="402077"/>
      </dsp:txXfrm>
    </dsp:sp>
    <dsp:sp modelId="{F36AC5F1-1723-42E8-B83D-8587D22541C5}">
      <dsp:nvSpPr>
        <dsp:cNvPr id="0" name=""/>
        <dsp:cNvSpPr/>
      </dsp:nvSpPr>
      <dsp:spPr>
        <a:xfrm>
          <a:off x="3684608" y="2510084"/>
          <a:ext cx="2630982" cy="1142993"/>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t>Data Exploration </a:t>
          </a:r>
          <a:r>
            <a:rPr lang="en-US" sz="1900" kern="1200" dirty="0"/>
            <a:t>: Checked nulls, outliers, distributions </a:t>
          </a:r>
          <a:endParaRPr lang="en-IN" sz="1900" kern="1200" dirty="0"/>
        </a:p>
      </dsp:txBody>
      <dsp:txXfrm>
        <a:off x="3718085" y="2543561"/>
        <a:ext cx="2564028" cy="1076039"/>
      </dsp:txXfrm>
    </dsp:sp>
    <dsp:sp modelId="{3DB97B41-741F-4E54-BF04-FDD84021F5C2}">
      <dsp:nvSpPr>
        <dsp:cNvPr id="0" name=""/>
        <dsp:cNvSpPr/>
      </dsp:nvSpPr>
      <dsp:spPr>
        <a:xfrm rot="10800000">
          <a:off x="2895314" y="2755339"/>
          <a:ext cx="557768" cy="652483"/>
        </a:xfrm>
        <a:prstGeom prst="rightArrow">
          <a:avLst>
            <a:gd name="adj1" fmla="val 60000"/>
            <a:gd name="adj2" fmla="val 50000"/>
          </a:avLst>
        </a:prstGeom>
        <a:solidFill>
          <a:schemeClr val="accent3">
            <a:tint val="60000"/>
            <a:hueOff val="0"/>
            <a:satOff val="0"/>
            <a:lumOff val="0"/>
            <a:alphaOff val="0"/>
          </a:schemeClr>
        </a:solidFill>
        <a:ln>
          <a:noFill/>
        </a:ln>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10800000">
        <a:off x="3062644" y="2885836"/>
        <a:ext cx="390438" cy="391489"/>
      </dsp:txXfrm>
    </dsp:sp>
    <dsp:sp modelId="{38803D42-11D6-4D1F-999F-4DCAA4C5B9B1}">
      <dsp:nvSpPr>
        <dsp:cNvPr id="0" name=""/>
        <dsp:cNvSpPr/>
      </dsp:nvSpPr>
      <dsp:spPr>
        <a:xfrm>
          <a:off x="1233" y="2462355"/>
          <a:ext cx="2630982" cy="1238450"/>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t>Data Cleaning : </a:t>
          </a:r>
          <a:r>
            <a:rPr lang="en-US" sz="1900" kern="1200" dirty="0"/>
            <a:t>Removed incorrect data </a:t>
          </a:r>
          <a:endParaRPr lang="en-IN" sz="1900" kern="1200" dirty="0"/>
        </a:p>
      </dsp:txBody>
      <dsp:txXfrm>
        <a:off x="37506" y="2498628"/>
        <a:ext cx="2558436" cy="1165904"/>
      </dsp:txXfrm>
    </dsp:sp>
    <dsp:sp modelId="{6401D501-0828-4884-9F2F-7BDE0D576233}">
      <dsp:nvSpPr>
        <dsp:cNvPr id="0" name=""/>
        <dsp:cNvSpPr/>
      </dsp:nvSpPr>
      <dsp:spPr>
        <a:xfrm rot="5400000">
          <a:off x="1037840" y="3884975"/>
          <a:ext cx="557768" cy="652483"/>
        </a:xfrm>
        <a:prstGeom prst="rightArrow">
          <a:avLst>
            <a:gd name="adj1" fmla="val 60000"/>
            <a:gd name="adj2" fmla="val 50000"/>
          </a:avLst>
        </a:prstGeom>
        <a:solidFill>
          <a:schemeClr val="accent3">
            <a:tint val="60000"/>
            <a:hueOff val="0"/>
            <a:satOff val="0"/>
            <a:lumOff val="0"/>
            <a:alphaOff val="0"/>
          </a:schemeClr>
        </a:solidFill>
        <a:ln>
          <a:noFill/>
        </a:ln>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666750">
            <a:lnSpc>
              <a:spcPct val="90000"/>
            </a:lnSpc>
            <a:spcBef>
              <a:spcPct val="0"/>
            </a:spcBef>
            <a:spcAft>
              <a:spcPct val="35000"/>
            </a:spcAft>
            <a:buNone/>
          </a:pPr>
          <a:endParaRPr lang="en-IN" sz="1500" kern="1200"/>
        </a:p>
      </dsp:txBody>
      <dsp:txXfrm rot="-5400000">
        <a:off x="1120980" y="3932332"/>
        <a:ext cx="391489" cy="390438"/>
      </dsp:txXfrm>
    </dsp:sp>
    <dsp:sp modelId="{ACC6335D-1835-4A47-95FC-101EEFAC4DEC}">
      <dsp:nvSpPr>
        <dsp:cNvPr id="0" name=""/>
        <dsp:cNvSpPr/>
      </dsp:nvSpPr>
      <dsp:spPr>
        <a:xfrm>
          <a:off x="1233" y="4753199"/>
          <a:ext cx="2630982" cy="1222096"/>
        </a:xfrm>
        <a:prstGeom prst="roundRect">
          <a:avLst>
            <a:gd name="adj" fmla="val 10000"/>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t>Visualization &amp; Insights </a:t>
          </a:r>
          <a:r>
            <a:rPr lang="en-US" sz="1900" kern="1200" dirty="0"/>
            <a:t>: Charts for sales trends, top products, regions, peak months</a:t>
          </a:r>
          <a:endParaRPr lang="en-IN" sz="1900" kern="1200" dirty="0"/>
        </a:p>
      </dsp:txBody>
      <dsp:txXfrm>
        <a:off x="37027" y="4788993"/>
        <a:ext cx="2559394" cy="1150508"/>
      </dsp:txXfrm>
    </dsp:sp>
  </dsp:spTree>
</dsp:drawing>
</file>

<file path=ppt/diagrams/layout1.xml><?xml version="1.0" encoding="utf-8"?>
<dgm:layoutDef xmlns:dgm="http://schemas.openxmlformats.org/drawingml/2006/diagram" xmlns:a="http://schemas.openxmlformats.org/drawingml/2006/main" uniqueId="urn:microsoft.com/office/officeart/2005/8/layout/process5">
  <dgm:title val=""/>
  <dgm:desc val=""/>
  <dgm:catLst>
    <dgm:cat type="process" pri="17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self" func="var" arg="dir" op="equ" val="norm">
        <dgm:alg type="snake">
          <dgm:param type="grDir" val="tL"/>
          <dgm:param type="flowDir" val="row"/>
          <dgm:param type="contDir" val="revDir"/>
          <dgm:param type="bkpt" val="endCnv"/>
        </dgm:alg>
      </dgm:if>
      <dgm:else name="Name2">
        <dgm:alg type="snake">
          <dgm:param type="grDir" val="tR"/>
          <dgm:param type="flowDir" val="row"/>
          <dgm:param type="contDir" val="rev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4"/>
      <dgm:constr type="sp" refType="w" refFor="ch" refForName="sibTrans"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8F6756E-81DA-9FAC-70D8-556F658BDD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EBEDD12-BCD5-485B-BCBC-34BB01D7923C}" type="datetimeFigureOut">
              <a:rPr lang="en-US" smtClean="0"/>
              <a:t>11/7/2025</a:t>
            </a:fld>
            <a:endParaRPr lang="en-US" dirty="0"/>
          </a:p>
        </p:txBody>
      </p:sp>
      <p:sp>
        <p:nvSpPr>
          <p:cNvPr id="6" name="Slide Number Placeholder 5">
            <a:extLst>
              <a:ext uri="{FF2B5EF4-FFF2-40B4-BE49-F238E27FC236}">
                <a16:creationId xmlns:a16="http://schemas.microsoft.com/office/drawing/2014/main" id="{A771D415-D05A-7067-CCD3-457153D96C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C230DF-5933-439D-898F-38E9AC9BA688}" type="slidenum">
              <a:rPr lang="en-US" smtClean="0"/>
              <a:t>‹#›</a:t>
            </a:fld>
            <a:endParaRPr lang="en-US" dirty="0"/>
          </a:p>
        </p:txBody>
      </p:sp>
      <p:sp>
        <p:nvSpPr>
          <p:cNvPr id="7" name="Footer Placeholder 6">
            <a:extLst>
              <a:ext uri="{FF2B5EF4-FFF2-40B4-BE49-F238E27FC236}">
                <a16:creationId xmlns:a16="http://schemas.microsoft.com/office/drawing/2014/main" id="{B97095E3-54D2-CFD2-4F49-7536FC8641D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8" name="Header Placeholder 7">
            <a:extLst>
              <a:ext uri="{FF2B5EF4-FFF2-40B4-BE49-F238E27FC236}">
                <a16:creationId xmlns:a16="http://schemas.microsoft.com/office/drawing/2014/main" id="{521EE01A-C0B5-5ECF-96DD-768F86AA15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Tree>
    <p:extLst>
      <p:ext uri="{BB962C8B-B14F-4D97-AF65-F5344CB8AC3E}">
        <p14:creationId xmlns:p14="http://schemas.microsoft.com/office/powerpoint/2010/main" val="26532284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11/7/2025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a:t>
            </a:fld>
            <a:endParaRPr lang="en-US" dirty="0"/>
          </a:p>
        </p:txBody>
      </p:sp>
    </p:spTree>
    <p:extLst>
      <p:ext uri="{BB962C8B-B14F-4D97-AF65-F5344CB8AC3E}">
        <p14:creationId xmlns:p14="http://schemas.microsoft.com/office/powerpoint/2010/main" val="1092453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2</a:t>
            </a:fld>
            <a:endParaRPr lang="en-US" dirty="0"/>
          </a:p>
        </p:txBody>
      </p:sp>
    </p:spTree>
    <p:extLst>
      <p:ext uri="{BB962C8B-B14F-4D97-AF65-F5344CB8AC3E}">
        <p14:creationId xmlns:p14="http://schemas.microsoft.com/office/powerpoint/2010/main" val="3113416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3</a:t>
            </a:fld>
            <a:endParaRPr lang="en-US" dirty="0"/>
          </a:p>
        </p:txBody>
      </p:sp>
    </p:spTree>
    <p:extLst>
      <p:ext uri="{BB962C8B-B14F-4D97-AF65-F5344CB8AC3E}">
        <p14:creationId xmlns:p14="http://schemas.microsoft.com/office/powerpoint/2010/main" val="27304331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4</a:t>
            </a:fld>
            <a:endParaRPr lang="en-US" dirty="0"/>
          </a:p>
        </p:txBody>
      </p:sp>
    </p:spTree>
    <p:extLst>
      <p:ext uri="{BB962C8B-B14F-4D97-AF65-F5344CB8AC3E}">
        <p14:creationId xmlns:p14="http://schemas.microsoft.com/office/powerpoint/2010/main" val="3576248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390827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BC04D-2568-C19F-6211-ABA7996CB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BD96A4-D432-FA69-5E46-4DF91D77CA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921-CFBB-DE6F-31EB-81B758CA02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53E3F8-8185-F97B-2F08-1F44FCE2A5AB}"/>
              </a:ext>
            </a:extLst>
          </p:cNvPr>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3727777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7</a:t>
            </a:fld>
            <a:endParaRPr lang="en-US" dirty="0"/>
          </a:p>
        </p:txBody>
      </p:sp>
    </p:spTree>
    <p:extLst>
      <p:ext uri="{BB962C8B-B14F-4D97-AF65-F5344CB8AC3E}">
        <p14:creationId xmlns:p14="http://schemas.microsoft.com/office/powerpoint/2010/main" val="23861837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8</a:t>
            </a:fld>
            <a:endParaRPr lang="en-US" dirty="0"/>
          </a:p>
        </p:txBody>
      </p:sp>
    </p:spTree>
    <p:extLst>
      <p:ext uri="{BB962C8B-B14F-4D97-AF65-F5344CB8AC3E}">
        <p14:creationId xmlns:p14="http://schemas.microsoft.com/office/powerpoint/2010/main" val="29947593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9</a:t>
            </a:fld>
            <a:endParaRPr lang="en-US" dirty="0"/>
          </a:p>
        </p:txBody>
      </p:sp>
    </p:spTree>
    <p:extLst>
      <p:ext uri="{BB962C8B-B14F-4D97-AF65-F5344CB8AC3E}">
        <p14:creationId xmlns:p14="http://schemas.microsoft.com/office/powerpoint/2010/main" val="40502331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10</a:t>
            </a:fld>
            <a:endParaRPr lang="en-US" dirty="0"/>
          </a:p>
        </p:txBody>
      </p:sp>
    </p:spTree>
    <p:extLst>
      <p:ext uri="{BB962C8B-B14F-4D97-AF65-F5344CB8AC3E}">
        <p14:creationId xmlns:p14="http://schemas.microsoft.com/office/powerpoint/2010/main" val="6345968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11</a:t>
            </a:fld>
            <a:endParaRPr lang="en-US" dirty="0"/>
          </a:p>
        </p:txBody>
      </p:sp>
    </p:spTree>
    <p:extLst>
      <p:ext uri="{BB962C8B-B14F-4D97-AF65-F5344CB8AC3E}">
        <p14:creationId xmlns:p14="http://schemas.microsoft.com/office/powerpoint/2010/main" val="5144881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12</a:t>
            </a:fld>
            <a:endParaRPr lang="en-US" dirty="0"/>
          </a:p>
        </p:txBody>
      </p:sp>
    </p:spTree>
    <p:extLst>
      <p:ext uri="{BB962C8B-B14F-4D97-AF65-F5344CB8AC3E}">
        <p14:creationId xmlns:p14="http://schemas.microsoft.com/office/powerpoint/2010/main" val="1765923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327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06C6F65-35CD-D64B-992A-0C1C1E00384D}"/>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7" name="AutoShape 24">
              <a:extLst>
                <a:ext uri="{FF2B5EF4-FFF2-40B4-BE49-F238E27FC236}">
                  <a16:creationId xmlns:a16="http://schemas.microsoft.com/office/drawing/2014/main" id="{CFD467E2-FF13-7E4F-BEF9-EA1A17665B2D}"/>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8" name="Freeform 7">
              <a:extLst>
                <a:ext uri="{FF2B5EF4-FFF2-40B4-BE49-F238E27FC236}">
                  <a16:creationId xmlns:a16="http://schemas.microsoft.com/office/drawing/2014/main" id="{CA85A327-3157-B442-993A-6900F71249AC}"/>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9" name="Freeform 8">
              <a:extLst>
                <a:ext uri="{FF2B5EF4-FFF2-40B4-BE49-F238E27FC236}">
                  <a16:creationId xmlns:a16="http://schemas.microsoft.com/office/drawing/2014/main" id="{9A459CB4-74AF-0544-AB1E-7CC6D10F84EB}"/>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0" name="Freeform 9">
              <a:extLst>
                <a:ext uri="{FF2B5EF4-FFF2-40B4-BE49-F238E27FC236}">
                  <a16:creationId xmlns:a16="http://schemas.microsoft.com/office/drawing/2014/main" id="{95A20BFD-9142-D64A-A78A-61B75FCA0D76}"/>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B80736DF-C890-DB47-AEAA-D3D92505E632}"/>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2" name="Title 1">
            <a:extLst>
              <a:ext uri="{FF2B5EF4-FFF2-40B4-BE49-F238E27FC236}">
                <a16:creationId xmlns:a16="http://schemas.microsoft.com/office/drawing/2014/main" id="{39F93F26-ED5C-E74E-BFBD-E3054DC1B9C1}"/>
              </a:ext>
            </a:extLst>
          </p:cNvPr>
          <p:cNvSpPr>
            <a:spLocks noGrp="1"/>
          </p:cNvSpPr>
          <p:nvPr>
            <p:ph type="title" hasCustomPrompt="1"/>
          </p:nvPr>
        </p:nvSpPr>
        <p:spPr>
          <a:xfrm>
            <a:off x="594360" y="189572"/>
            <a:ext cx="6787747" cy="1593507"/>
          </a:xfrm>
          <a:prstGeom prst="rect">
            <a:avLst/>
          </a:prstGeom>
        </p:spPr>
        <p:txBody>
          <a:bodyPr lIns="0" tIns="0" rIns="0" bIns="0" anchor="b" anchorCtr="0">
            <a:noAutofit/>
          </a:bodyPr>
          <a:lstStyle>
            <a:lvl1pPr>
              <a:defRPr sz="4400" b="1" i="0" spc="50" baseline="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186153BD-9D2B-47EB-3553-1D3F6663B2A3}"/>
              </a:ext>
            </a:extLst>
          </p:cNvPr>
          <p:cNvSpPr>
            <a:spLocks noGrp="1"/>
          </p:cNvSpPr>
          <p:nvPr>
            <p:ph sz="quarter" idx="13" hasCustomPrompt="1"/>
          </p:nvPr>
        </p:nvSpPr>
        <p:spPr>
          <a:xfrm>
            <a:off x="594359" y="2281918"/>
            <a:ext cx="6787747" cy="3708517"/>
          </a:xfrm>
        </p:spPr>
        <p:txBody>
          <a:bodyPr lIns="0" tIns="228600" rIns="0" bIns="0">
            <a:normAutofit/>
          </a:bodyPr>
          <a:lstStyle>
            <a:lvl1pPr marL="283464" indent="-283464">
              <a:lnSpc>
                <a:spcPct val="80000"/>
              </a:lnSpc>
              <a:spcBef>
                <a:spcPts val="2200"/>
              </a:spcBef>
              <a:buFont typeface="Arial" panose="020B0604020202020204" pitchFamily="34" charset="0"/>
              <a:buChar char="•"/>
              <a:defRPr lang="en-US" sz="2400" b="1" i="0" kern="1200" dirty="0">
                <a:solidFill>
                  <a:schemeClr val="tx2">
                    <a:lumMod val="75000"/>
                  </a:schemeClr>
                </a:solidFill>
                <a:latin typeface="+mn-lt"/>
                <a:ea typeface="+mn-ea"/>
                <a:cs typeface="+mn-cs"/>
              </a:defRPr>
            </a:lvl1pPr>
            <a:lvl2pPr indent="-283464">
              <a:spcBef>
                <a:spcPts val="6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3" name="Slide Number Placeholder 42">
            <a:extLst>
              <a:ext uri="{FF2B5EF4-FFF2-40B4-BE49-F238E27FC236}">
                <a16:creationId xmlns:a16="http://schemas.microsoft.com/office/drawing/2014/main" id="{D80CCC8F-9CF1-9621-04EB-DFA68FEE42D2}"/>
              </a:ext>
            </a:extLst>
          </p:cNvPr>
          <p:cNvSpPr>
            <a:spLocks noGrp="1"/>
          </p:cNvSpPr>
          <p:nvPr>
            <p:ph type="sldNum" sz="quarter" idx="26"/>
          </p:nvPr>
        </p:nvSpPr>
        <p:spPr/>
        <p:txBody>
          <a:bodyPr/>
          <a:lstStyle/>
          <a:p>
            <a:fld id="{294A09A9-5501-47C1-A89A-A340965A2BE2}" type="slidenum">
              <a:rPr lang="en-US" smtClean="0"/>
              <a:pPr/>
              <a:t>‹#›</a:t>
            </a:fld>
            <a:endParaRPr lang="en-US" dirty="0">
              <a:latin typeface="+mn-lt"/>
            </a:endParaRPr>
          </a:p>
        </p:txBody>
      </p:sp>
      <p:sp>
        <p:nvSpPr>
          <p:cNvPr id="42" name="Date Placeholder 41">
            <a:extLst>
              <a:ext uri="{FF2B5EF4-FFF2-40B4-BE49-F238E27FC236}">
                <a16:creationId xmlns:a16="http://schemas.microsoft.com/office/drawing/2014/main" id="{29CE2856-DB8F-5603-C085-74C70560FAC8}"/>
              </a:ext>
            </a:extLst>
          </p:cNvPr>
          <p:cNvSpPr>
            <a:spLocks noGrp="1"/>
          </p:cNvSpPr>
          <p:nvPr>
            <p:ph type="dt" sz="half" idx="25"/>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979826C1-7A52-DA25-F422-EE62DED7D1B6}"/>
              </a:ext>
              <a:ext uri="{C183D7F6-B498-43B3-948B-1728B52AA6E4}">
                <adec:decorative xmlns:adec="http://schemas.microsoft.com/office/drawing/2017/decorative" val="1"/>
              </a:ext>
            </a:extLst>
          </p:cNvPr>
          <p:cNvCxnSpPr>
            <a:cxnSpLocks/>
          </p:cNvCxnSpPr>
          <p:nvPr userDrawn="1"/>
        </p:nvCxnSpPr>
        <p:spPr>
          <a:xfrm>
            <a:off x="594360" y="2148840"/>
            <a:ext cx="2130552" cy="0"/>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18089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3"/>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9D0555-EBDC-B53A-212D-A5921795FEC8}"/>
              </a:ext>
            </a:extLst>
          </p:cNvPr>
          <p:cNvSpPr>
            <a:spLocks noGrp="1"/>
          </p:cNvSpPr>
          <p:nvPr>
            <p:ph type="pic" sz="quarter" idx="13"/>
          </p:nvPr>
        </p:nvSpPr>
        <p:spPr>
          <a:xfrm>
            <a:off x="0" y="0"/>
            <a:ext cx="12192000" cy="688054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p:spPr>
        <p:txBody>
          <a:bodyPr wrap="square" tIns="182880">
            <a:noAutofit/>
          </a:bodyPr>
          <a:lstStyle>
            <a:lvl1pPr marL="0" indent="0" algn="ctr">
              <a:buNone/>
              <a:defRPr sz="2000">
                <a:solidFill>
                  <a:schemeClr val="tx1"/>
                </a:solidFill>
              </a:defRPr>
            </a:lvl1pPr>
          </a:lstStyle>
          <a:p>
            <a:r>
              <a:rPr lang="en-US"/>
              <a:t>Click icon to add picture</a:t>
            </a:r>
            <a:endParaRPr lang="en-US" dirty="0"/>
          </a:p>
        </p:txBody>
      </p:sp>
      <p:sp>
        <p:nvSpPr>
          <p:cNvPr id="18" name="Title 1">
            <a:extLst>
              <a:ext uri="{FF2B5EF4-FFF2-40B4-BE49-F238E27FC236}">
                <a16:creationId xmlns:a16="http://schemas.microsoft.com/office/drawing/2014/main" id="{8D492973-78E3-D34E-835E-CF2D4517016D}"/>
              </a:ext>
            </a:extLst>
          </p:cNvPr>
          <p:cNvSpPr>
            <a:spLocks noGrp="1"/>
          </p:cNvSpPr>
          <p:nvPr>
            <p:ph type="title" hasCustomPrompt="1"/>
          </p:nvPr>
        </p:nvSpPr>
        <p:spPr>
          <a:xfrm>
            <a:off x="6309359" y="444933"/>
            <a:ext cx="5477479" cy="3291840"/>
          </a:xfrm>
          <a:prstGeom prst="rect">
            <a:avLst/>
          </a:prstGeom>
        </p:spPr>
        <p:txBody>
          <a:bodyPr lIns="0" tIns="0" rIns="0" bIns="0" anchor="b" anchorCtr="0">
            <a:noAutofit/>
          </a:bodyPr>
          <a:lstStyle>
            <a:lvl1pPr>
              <a:defRPr sz="6000" b="1" i="0" baseline="0">
                <a:solidFill>
                  <a:schemeClr val="tx1"/>
                </a:solidFill>
                <a:latin typeface="+mj-lt"/>
              </a:defRPr>
            </a:lvl1pPr>
          </a:lstStyle>
          <a:p>
            <a:r>
              <a:rPr lang="en-US" dirty="0"/>
              <a:t>Click to add title </a:t>
            </a:r>
          </a:p>
        </p:txBody>
      </p:sp>
      <p:sp>
        <p:nvSpPr>
          <p:cNvPr id="7" name="Rectangle 6">
            <a:extLst>
              <a:ext uri="{FF2B5EF4-FFF2-40B4-BE49-F238E27FC236}">
                <a16:creationId xmlns:a16="http://schemas.microsoft.com/office/drawing/2014/main" id="{D96BA398-1ED2-1FCA-63B9-8915A8C7A524}"/>
              </a:ext>
              <a:ext uri="{C183D7F6-B498-43B3-948B-1728B52AA6E4}">
                <adec:decorative xmlns:adec="http://schemas.microsoft.com/office/drawing/2017/decorative" val="1"/>
              </a:ext>
            </a:extLst>
          </p:cNvPr>
          <p:cNvSpPr/>
          <p:nvPr userDrawn="1"/>
        </p:nvSpPr>
        <p:spPr>
          <a:xfrm>
            <a:off x="6309360" y="3951843"/>
            <a:ext cx="2133600" cy="10058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29169562"/>
      </p:ext>
    </p:extLst>
  </p:cSld>
  <p:clrMapOvr>
    <a:masterClrMapping/>
  </p:clrMapOvr>
  <p:extLst>
    <p:ext uri="{DCECCB84-F9BA-43D5-87BE-67443E8EF086}">
      <p15:sldGuideLst xmlns:p15="http://schemas.microsoft.com/office/powerpoint/2012/main">
        <p15:guide id="2" pos="7104">
          <p15:clr>
            <a:srgbClr val="FBAE40"/>
          </p15:clr>
        </p15:guide>
        <p15:guide id="3" pos="4344" userDrawn="1">
          <p15:clr>
            <a:srgbClr val="FBAE40"/>
          </p15:clr>
        </p15:guide>
        <p15:guide id="4" pos="4560" userDrawn="1">
          <p15:clr>
            <a:srgbClr val="FBAE40"/>
          </p15:clr>
        </p15:guide>
        <p15:guide id="8" orient="horz" pos="18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299835" y="43052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sp>
        <p:nvSpPr>
          <p:cNvPr id="6" name="Picture Placeholder 5">
            <a:extLst>
              <a:ext uri="{FF2B5EF4-FFF2-40B4-BE49-F238E27FC236}">
                <a16:creationId xmlns:a16="http://schemas.microsoft.com/office/drawing/2014/main" id="{A9973BC6-F6E5-0B3B-C8AB-0AC4020D4E8B}"/>
              </a:ext>
            </a:extLst>
          </p:cNvPr>
          <p:cNvSpPr>
            <a:spLocks noGrp="1"/>
          </p:cNvSpPr>
          <p:nvPr>
            <p:ph type="pic" sz="quarter" idx="12"/>
          </p:nvPr>
        </p:nvSpPr>
        <p:spPr>
          <a:xfrm>
            <a:off x="0" y="-11113"/>
            <a:ext cx="5791200" cy="6880226"/>
          </a:xfrm>
        </p:spPr>
        <p:txBody>
          <a:bodyPr>
            <a:normAutofit/>
          </a:bodyPr>
          <a:lstStyle>
            <a:lvl1pPr marL="0" indent="0" algn="ctr">
              <a:buNone/>
              <a:defRPr sz="2000"/>
            </a:lvl1pPr>
          </a:lstStyle>
          <a:p>
            <a:r>
              <a:rPr lang="en-US"/>
              <a:t>Click icon to add picture</a:t>
            </a:r>
            <a:endParaRPr lang="en-US" dirty="0"/>
          </a:p>
        </p:txBody>
      </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299835" y="456860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7" name="Straight Connector 6">
            <a:extLst>
              <a:ext uri="{FF2B5EF4-FFF2-40B4-BE49-F238E27FC236}">
                <a16:creationId xmlns:a16="http://schemas.microsoft.com/office/drawing/2014/main" id="{29169ED6-4B82-6844-119F-AC15CDF2D3E5}"/>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7914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2">
    <p:bg>
      <p:bgPr>
        <a:solidFill>
          <a:schemeClr val="tx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57F1500-1A16-D1EF-4F0C-030852B291FC}"/>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grpSp>
        <p:nvGrpSpPr>
          <p:cNvPr id="10" name="Group 9">
            <a:extLst>
              <a:ext uri="{FF2B5EF4-FFF2-40B4-BE49-F238E27FC236}">
                <a16:creationId xmlns:a16="http://schemas.microsoft.com/office/drawing/2014/main" id="{2D07A0BE-3890-193E-9439-F294E61A71B9}"/>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11" name="Freeform 19">
              <a:extLst>
                <a:ext uri="{FF2B5EF4-FFF2-40B4-BE49-F238E27FC236}">
                  <a16:creationId xmlns:a16="http://schemas.microsoft.com/office/drawing/2014/main" id="{C05217ED-C258-E6CE-BA7F-28A6EA41BCD3}"/>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20">
              <a:extLst>
                <a:ext uri="{FF2B5EF4-FFF2-40B4-BE49-F238E27FC236}">
                  <a16:creationId xmlns:a16="http://schemas.microsoft.com/office/drawing/2014/main" id="{F3E11A1F-14DD-BA35-D7D7-4D4ADEAA3484}"/>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21">
              <a:extLst>
                <a:ext uri="{FF2B5EF4-FFF2-40B4-BE49-F238E27FC236}">
                  <a16:creationId xmlns:a16="http://schemas.microsoft.com/office/drawing/2014/main" id="{F14541B0-973F-7E21-1019-D2FB83C8C0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32" name="Title 1">
            <a:extLst>
              <a:ext uri="{FF2B5EF4-FFF2-40B4-BE49-F238E27FC236}">
                <a16:creationId xmlns:a16="http://schemas.microsoft.com/office/drawing/2014/main" id="{467E05B6-B7CB-1E4F-96BA-4B8CFE8B63D9}"/>
              </a:ext>
            </a:extLst>
          </p:cNvPr>
          <p:cNvSpPr>
            <a:spLocks noGrp="1"/>
          </p:cNvSpPr>
          <p:nvPr>
            <p:ph type="title" hasCustomPrompt="1"/>
          </p:nvPr>
        </p:nvSpPr>
        <p:spPr>
          <a:xfrm>
            <a:off x="594360" y="102875"/>
            <a:ext cx="10873740" cy="1680205"/>
          </a:xfrm>
          <a:prstGeom prst="rect">
            <a:avLst/>
          </a:prstGeom>
        </p:spPr>
        <p:txBody>
          <a:bodyPr lIns="0" tIns="0" rIns="0" bIns="0" anchor="b" anchorCtr="0">
            <a:noAutofit/>
          </a:bodyPr>
          <a:lstStyle>
            <a:lvl1pPr>
              <a:defRPr sz="4400" b="1" i="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6FE0DC0-B0D7-F4D6-8038-177AD7A8C211}"/>
              </a:ext>
            </a:extLst>
          </p:cNvPr>
          <p:cNvSpPr>
            <a:spLocks noGrp="1"/>
          </p:cNvSpPr>
          <p:nvPr>
            <p:ph sz="quarter" idx="13" hasCustomPrompt="1"/>
          </p:nvPr>
        </p:nvSpPr>
        <p:spPr>
          <a:xfrm>
            <a:off x="3657600" y="2282008"/>
            <a:ext cx="7810500" cy="3699328"/>
          </a:xfrm>
        </p:spPr>
        <p:txBody>
          <a:bodyPr lIns="0" tIns="228600" rIns="0" bIns="0">
            <a:normAutofit/>
          </a:bodyPr>
          <a:lstStyle>
            <a:lvl1pPr marL="283464" indent="-283464">
              <a:spcBef>
                <a:spcPts val="1800"/>
              </a:spcBef>
              <a:buFont typeface="Arial" panose="020B0604020202020204" pitchFamily="34" charset="0"/>
              <a:buChar char="•"/>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7ED58739-4346-5104-B1AC-89ED035912AF}"/>
              </a:ext>
            </a:extLst>
          </p:cNvPr>
          <p:cNvSpPr>
            <a:spLocks noGrp="1"/>
          </p:cNvSpPr>
          <p:nvPr>
            <p:ph type="sldNum" sz="quarter" idx="22"/>
          </p:nvPr>
        </p:nvSpPr>
        <p:spPr/>
        <p:txBody>
          <a:bodyPr/>
          <a:lstStyle/>
          <a:p>
            <a:fld id="{294A09A9-5501-47C1-A89A-A340965A2BE2}" type="slidenum">
              <a:rPr lang="en-US" smtClean="0"/>
              <a:pPr/>
              <a:t>‹#›</a:t>
            </a:fld>
            <a:endParaRPr lang="en-US" dirty="0">
              <a:latin typeface="+mn-lt"/>
            </a:endParaRPr>
          </a:p>
        </p:txBody>
      </p:sp>
      <p:sp>
        <p:nvSpPr>
          <p:cNvPr id="5" name="Date Placeholder 4">
            <a:extLst>
              <a:ext uri="{FF2B5EF4-FFF2-40B4-BE49-F238E27FC236}">
                <a16:creationId xmlns:a16="http://schemas.microsoft.com/office/drawing/2014/main" id="{E9272B8D-F380-9F1A-C8E6-BDD2352B1763}"/>
              </a:ext>
            </a:extLst>
          </p:cNvPr>
          <p:cNvSpPr>
            <a:spLocks noGrp="1"/>
          </p:cNvSpPr>
          <p:nvPr>
            <p:ph type="dt" sz="half" idx="21"/>
          </p:nvPr>
        </p:nvSpPr>
        <p:spPr/>
        <p:txBody>
          <a:bodyPr/>
          <a:lstStyle/>
          <a:p>
            <a:endParaRPr lang="en-US" dirty="0">
              <a:latin typeface="+mn-lt"/>
            </a:endParaRPr>
          </a:p>
        </p:txBody>
      </p:sp>
    </p:spTree>
    <p:extLst>
      <p:ext uri="{BB962C8B-B14F-4D97-AF65-F5344CB8AC3E}">
        <p14:creationId xmlns:p14="http://schemas.microsoft.com/office/powerpoint/2010/main" val="14029641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600">
          <p15:clr>
            <a:srgbClr val="FBAE40"/>
          </p15:clr>
        </p15:guide>
        <p15:guide id="2" pos="7080">
          <p15:clr>
            <a:srgbClr val="FBAE40"/>
          </p15:clr>
        </p15:guide>
        <p15:guide id="3" pos="2304">
          <p15:clr>
            <a:srgbClr val="FBAE40"/>
          </p15:clr>
        </p15:guide>
        <p15:guide id="4" pos="5736">
          <p15:clr>
            <a:srgbClr val="FBAE40"/>
          </p15:clr>
        </p15:guide>
        <p15:guide id="5" pos="1944">
          <p15:clr>
            <a:srgbClr val="FBAE40"/>
          </p15:clr>
        </p15:guide>
        <p15:guide id="6" pos="4008">
          <p15:clr>
            <a:srgbClr val="FBAE40"/>
          </p15:clr>
        </p15:guide>
        <p15:guide id="7" orient="horz" pos="1224">
          <p15:clr>
            <a:srgbClr val="FBAE40"/>
          </p15:clr>
        </p15:guide>
        <p15:guide id="8" orient="horz" pos="1440">
          <p15:clr>
            <a:srgbClr val="FBAE40"/>
          </p15:clr>
        </p15:guide>
        <p15:guide id="9" orient="horz" pos="552">
          <p15:clr>
            <a:srgbClr val="FBAE40"/>
          </p15:clr>
        </p15:guide>
        <p15:guide id="10" pos="5352">
          <p15:clr>
            <a:srgbClr val="FBAE40"/>
          </p15:clr>
        </p15:guide>
        <p15:guide id="11" pos="36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309905"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spTree>
    <p:extLst>
      <p:ext uri="{BB962C8B-B14F-4D97-AF65-F5344CB8AC3E}">
        <p14:creationId xmlns:p14="http://schemas.microsoft.com/office/powerpoint/2010/main" val="2027108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78129"/>
            <a:ext cx="9778365" cy="149459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14DA3C5-63E4-BAFB-1D68-47F71EEEE538}"/>
              </a:ext>
            </a:extLst>
          </p:cNvPr>
          <p:cNvSpPr>
            <a:spLocks noGrp="1"/>
          </p:cNvSpPr>
          <p:nvPr>
            <p:ph sz="quarter" idx="15" hasCustomPrompt="1"/>
          </p:nvPr>
        </p:nvSpPr>
        <p:spPr>
          <a:xfrm>
            <a:off x="594360"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9436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5">
            <a:extLst>
              <a:ext uri="{FF2B5EF4-FFF2-40B4-BE49-F238E27FC236}">
                <a16:creationId xmlns:a16="http://schemas.microsoft.com/office/drawing/2014/main" id="{BD11386D-847E-8CF5-E56A-42E80A65A089}"/>
              </a:ext>
            </a:extLst>
          </p:cNvPr>
          <p:cNvSpPr>
            <a:spLocks noGrp="1"/>
          </p:cNvSpPr>
          <p:nvPr>
            <p:ph sz="quarter" idx="16" hasCustomPrompt="1"/>
          </p:nvPr>
        </p:nvSpPr>
        <p:spPr>
          <a:xfrm>
            <a:off x="5881898"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1056953"/>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2E558A9-6DD6-E21D-3A8F-6707E1DD19F1}"/>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12" name="AutoShape 24">
              <a:extLst>
                <a:ext uri="{FF2B5EF4-FFF2-40B4-BE49-F238E27FC236}">
                  <a16:creationId xmlns:a16="http://schemas.microsoft.com/office/drawing/2014/main" id="{3FC994E4-318C-1E66-B4E4-8F8FD08E098F}"/>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7">
              <a:extLst>
                <a:ext uri="{FF2B5EF4-FFF2-40B4-BE49-F238E27FC236}">
                  <a16:creationId xmlns:a16="http://schemas.microsoft.com/office/drawing/2014/main" id="{17C00E6B-F625-6D6C-8364-9DD9F3C3628F}"/>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8">
              <a:extLst>
                <a:ext uri="{FF2B5EF4-FFF2-40B4-BE49-F238E27FC236}">
                  <a16:creationId xmlns:a16="http://schemas.microsoft.com/office/drawing/2014/main" id="{C6197B87-4F65-7981-9463-84830CD3687F}"/>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8" name="Freeform 9">
              <a:extLst>
                <a:ext uri="{FF2B5EF4-FFF2-40B4-BE49-F238E27FC236}">
                  <a16:creationId xmlns:a16="http://schemas.microsoft.com/office/drawing/2014/main" id="{86AA517C-7217-D864-B7E7-40984A2880DB}"/>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9" name="Freeform 10">
              <a:extLst>
                <a:ext uri="{FF2B5EF4-FFF2-40B4-BE49-F238E27FC236}">
                  <a16:creationId xmlns:a16="http://schemas.microsoft.com/office/drawing/2014/main" id="{524013C6-491C-CAA2-5BD6-7C73596711CC}"/>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6318885" y="3499667"/>
            <a:ext cx="4939666" cy="254281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6347460"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457201"/>
            <a:ext cx="5198269" cy="2305050"/>
          </a:xfrm>
        </p:spPr>
        <p:txBody>
          <a:bodyPr lIns="0" tIns="274320">
            <a:normAutofit/>
          </a:bodyPr>
          <a:lstStyle>
            <a:lvl1pPr marL="457200" indent="-457200">
              <a:spcBef>
                <a:spcPts val="1800"/>
              </a:spcBef>
              <a:buFont typeface="+mj-lt"/>
              <a:buAutoNum type="arabicPeriod"/>
              <a:defRPr sz="2000"/>
            </a:lvl1pPr>
            <a:lvl2pPr marL="914400" indent="-457200">
              <a:spcBef>
                <a:spcPts val="1800"/>
              </a:spcBef>
              <a:buFont typeface="+mj-lt"/>
              <a:buAutoNum type="alphaLcPeriod"/>
              <a:defRPr sz="2000"/>
            </a:lvl2pPr>
            <a:lvl3pPr marL="1371600" indent="-457200">
              <a:spcBef>
                <a:spcPts val="1800"/>
              </a:spcBef>
              <a:buFont typeface="+mj-lt"/>
              <a:buAutoNum type="arabicParenR"/>
              <a:defRPr sz="2000"/>
            </a:lvl3pPr>
            <a:lvl4pPr marL="1371600" indent="0">
              <a:spcBef>
                <a:spcPts val="1800"/>
              </a:spcBef>
              <a:buFont typeface="+mj-lt"/>
              <a:buNone/>
              <a:defRPr sz="2000"/>
            </a:lvl4pPr>
            <a:lvl5pPr marL="2286000" indent="-457200">
              <a:spcBef>
                <a:spcPts val="1800"/>
              </a:spcBef>
              <a:buFont typeface="+mj-lt"/>
              <a:buAutoNum type="arabicPeriod"/>
              <a:defRPr sz="2000"/>
            </a:lvl5pPr>
          </a:lstStyle>
          <a:p>
            <a:pPr lvl="0"/>
            <a:r>
              <a:rPr lang="en-US" dirty="0"/>
              <a:t>Click to add content</a:t>
            </a:r>
          </a:p>
          <a:p>
            <a:pPr lvl="1"/>
            <a:r>
              <a:rPr lang="en-US" dirty="0"/>
              <a:t>Second level</a:t>
            </a:r>
          </a:p>
          <a:p>
            <a:pPr lvl="2"/>
            <a:r>
              <a:rPr lang="en-US" dirty="0"/>
              <a:t>Third level</a:t>
            </a:r>
          </a:p>
          <a:p>
            <a:pPr lvl="3"/>
            <a:endParaRPr lang="en-US" dirty="0"/>
          </a:p>
        </p:txBody>
      </p:sp>
      <p:sp>
        <p:nvSpPr>
          <p:cNvPr id="2" name="Content Placeholder 5">
            <a:extLst>
              <a:ext uri="{FF2B5EF4-FFF2-40B4-BE49-F238E27FC236}">
                <a16:creationId xmlns:a16="http://schemas.microsoft.com/office/drawing/2014/main" id="{3AC171DA-232D-44C1-6B93-40BACB298F4B}"/>
              </a:ext>
            </a:extLst>
          </p:cNvPr>
          <p:cNvSpPr>
            <a:spLocks noGrp="1"/>
          </p:cNvSpPr>
          <p:nvPr>
            <p:ph sz="quarter" idx="15" hasCustomPrompt="1"/>
          </p:nvPr>
        </p:nvSpPr>
        <p:spPr>
          <a:xfrm>
            <a:off x="594360" y="2810595"/>
            <a:ext cx="5198269" cy="3319513"/>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554606805"/>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Picture">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75310" y="278129"/>
            <a:ext cx="5063490" cy="235402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3" name="Content Placeholder 5">
            <a:extLst>
              <a:ext uri="{FF2B5EF4-FFF2-40B4-BE49-F238E27FC236}">
                <a16:creationId xmlns:a16="http://schemas.microsoft.com/office/drawing/2014/main" id="{1EF4505D-6803-3813-7738-049963427819}"/>
              </a:ext>
            </a:extLst>
          </p:cNvPr>
          <p:cNvSpPr>
            <a:spLocks noGrp="1"/>
          </p:cNvSpPr>
          <p:nvPr>
            <p:ph sz="quarter" idx="16" hasCustomPrompt="1"/>
          </p:nvPr>
        </p:nvSpPr>
        <p:spPr>
          <a:xfrm>
            <a:off x="594360" y="3279579"/>
            <a:ext cx="5044440" cy="2994415"/>
          </a:xfrm>
        </p:spPr>
        <p:txBody>
          <a:bodyPr lIns="0" tIns="228600" rIns="0" bIns="0">
            <a:normAutofit/>
          </a:bodyPr>
          <a:lstStyle>
            <a:lvl1pPr marL="0" indent="0">
              <a:spcBef>
                <a:spcPts val="1800"/>
              </a:spcBef>
              <a:buFont typeface="Arial" panose="020B0604020202020204" pitchFamily="34" charset="0"/>
              <a:buNone/>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997459"/>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2" name="Picture Placeholder 11">
            <a:extLst>
              <a:ext uri="{FF2B5EF4-FFF2-40B4-BE49-F238E27FC236}">
                <a16:creationId xmlns:a16="http://schemas.microsoft.com/office/drawing/2014/main" id="{4658637A-5D36-6127-19BC-C203E23FA49F}"/>
              </a:ext>
            </a:extLst>
          </p:cNvPr>
          <p:cNvSpPr>
            <a:spLocks noGrp="1"/>
          </p:cNvSpPr>
          <p:nvPr>
            <p:ph type="pic" sz="quarter" idx="15"/>
          </p:nvPr>
        </p:nvSpPr>
        <p:spPr>
          <a:xfrm>
            <a:off x="6096000" y="0"/>
            <a:ext cx="6118225"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1429319764"/>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tx1"/>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F555767-B3D8-BD57-1D42-7F6E1E66892B}"/>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9" name="Freeform 13">
              <a:extLst>
                <a:ext uri="{FF2B5EF4-FFF2-40B4-BE49-F238E27FC236}">
                  <a16:creationId xmlns:a16="http://schemas.microsoft.com/office/drawing/2014/main" id="{BC972B6D-098C-52F6-E990-52623B368FB1}"/>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5" name="Freeform 14">
              <a:extLst>
                <a:ext uri="{FF2B5EF4-FFF2-40B4-BE49-F238E27FC236}">
                  <a16:creationId xmlns:a16="http://schemas.microsoft.com/office/drawing/2014/main" id="{3F0D3EE3-9A8C-531D-1EEE-1AFAB9F3BCAE}"/>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7" name="Freeform 15">
              <a:extLst>
                <a:ext uri="{FF2B5EF4-FFF2-40B4-BE49-F238E27FC236}">
                  <a16:creationId xmlns:a16="http://schemas.microsoft.com/office/drawing/2014/main" id="{A2BE192C-1768-890B-EC1B-5ED6E1F8259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3661409" y="4661717"/>
            <a:ext cx="7936230" cy="138076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3670935"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584005"/>
            <a:ext cx="2825115" cy="3999060"/>
          </a:xfrm>
        </p:spPr>
        <p:txBody>
          <a:bodyPr lIns="0" tIns="274320">
            <a:normAutofit/>
          </a:bodyPr>
          <a:lstStyle>
            <a:lvl1pPr marL="0" indent="0">
              <a:spcBef>
                <a:spcPts val="1800"/>
              </a:spcBef>
              <a:buFont typeface="Arial" panose="020B0604020202020204" pitchFamily="34" charset="0"/>
              <a:buNone/>
              <a:defRPr sz="2000"/>
            </a:lvl1pPr>
            <a:lvl2pPr marL="457200" indent="0">
              <a:spcBef>
                <a:spcPts val="1800"/>
              </a:spcBef>
              <a:buNone/>
              <a:defRPr sz="2000"/>
            </a:lvl2pPr>
            <a:lvl3pPr marL="914400" indent="0">
              <a:spcBef>
                <a:spcPts val="1800"/>
              </a:spcBef>
              <a:buNone/>
              <a:defRPr sz="2000"/>
            </a:lvl3pPr>
            <a:lvl4pPr marL="1371600" indent="0">
              <a:spcBef>
                <a:spcPts val="1800"/>
              </a:spcBef>
              <a:buNone/>
              <a:defRPr sz="2000"/>
            </a:lvl4pPr>
            <a:lvl5pPr marL="1828800" indent="0">
              <a:spcBef>
                <a:spcPts val="1800"/>
              </a:spcBef>
              <a:buNone/>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3670934" y="584005"/>
            <a:ext cx="7926705" cy="399906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2244329111"/>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198408"/>
            <a:ext cx="10972800" cy="1574317"/>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595523" y="2676525"/>
            <a:ext cx="5746750" cy="359747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7620000" y="2676525"/>
            <a:ext cx="3947160" cy="3597470"/>
          </a:xfrm>
        </p:spPr>
        <p:txBody>
          <a:bodyPr lIns="0">
            <a:normAutofit/>
          </a:bodyPr>
          <a:lstStyle>
            <a:lvl1pPr marL="342900" indent="-342900">
              <a:spcBef>
                <a:spcPts val="1800"/>
              </a:spcBef>
              <a:buFont typeface="Arial" panose="020B0604020202020204" pitchFamily="34" charset="0"/>
              <a:buChar char="•"/>
              <a:defRPr sz="2000"/>
            </a:lvl1pPr>
            <a:lvl2pPr>
              <a:spcBef>
                <a:spcPts val="18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Tree>
    <p:extLst>
      <p:ext uri="{BB962C8B-B14F-4D97-AF65-F5344CB8AC3E}">
        <p14:creationId xmlns:p14="http://schemas.microsoft.com/office/powerpoint/2010/main" val="649744719"/>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02400"/>
            <a:ext cx="10972800" cy="1570325"/>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9" name="Table Placeholder 2">
            <a:extLst>
              <a:ext uri="{FF2B5EF4-FFF2-40B4-BE49-F238E27FC236}">
                <a16:creationId xmlns:a16="http://schemas.microsoft.com/office/drawing/2014/main" id="{1506B022-475A-6647-98FF-D5C319A0C7C4}"/>
              </a:ext>
            </a:extLst>
          </p:cNvPr>
          <p:cNvSpPr>
            <a:spLocks noGrp="1"/>
          </p:cNvSpPr>
          <p:nvPr>
            <p:ph type="tbl" sz="quarter" idx="10"/>
          </p:nvPr>
        </p:nvSpPr>
        <p:spPr>
          <a:xfrm>
            <a:off x="594360" y="2628629"/>
            <a:ext cx="10972800" cy="3636740"/>
          </a:xfrm>
        </p:spPr>
        <p:txBody>
          <a:bodyPr>
            <a:noAutofit/>
          </a:bodyPr>
          <a:lstStyle>
            <a:lvl1pPr>
              <a:defRPr/>
            </a:lvl1pPr>
          </a:lstStyle>
          <a:p>
            <a:r>
              <a:rPr lang="en-US"/>
              <a:t>Click icon to add table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410957"/>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594360"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flipH="1" flipV="1">
            <a:off x="6092752" y="0"/>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594360"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4" name="Straight Connector 3">
            <a:extLst>
              <a:ext uri="{FF2B5EF4-FFF2-40B4-BE49-F238E27FC236}">
                <a16:creationId xmlns:a16="http://schemas.microsoft.com/office/drawing/2014/main" id="{58B149C6-5AAC-B8E5-5411-EA38821F6754}"/>
              </a:ext>
              <a:ext uri="{C183D7F6-B498-43B3-948B-1728B52AA6E4}">
                <adec:decorative xmlns:adec="http://schemas.microsoft.com/office/drawing/2017/decorative" val="1"/>
              </a:ext>
            </a:extLst>
          </p:cNvPr>
          <p:cNvCxnSpPr>
            <a:cxnSpLocks/>
          </p:cNvCxnSpPr>
          <p:nvPr userDrawn="1"/>
        </p:nvCxnSpPr>
        <p:spPr>
          <a:xfrm>
            <a:off x="594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69273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EED84C6-50E6-6C43-8031-AFF6268E0C06}"/>
              </a:ext>
            </a:extLst>
          </p:cNvPr>
          <p:cNvSpPr>
            <a:spLocks noGrp="1"/>
          </p:cNvSpPr>
          <p:nvPr>
            <p:ph type="body" idx="1"/>
          </p:nvPr>
        </p:nvSpPr>
        <p:spPr>
          <a:xfrm>
            <a:off x="594360" y="1825625"/>
            <a:ext cx="1038225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11">
            <a:extLst>
              <a:ext uri="{FF2B5EF4-FFF2-40B4-BE49-F238E27FC236}">
                <a16:creationId xmlns:a16="http://schemas.microsoft.com/office/drawing/2014/main" id="{D41FC0AE-253D-D242-9C88-017078F8A23A}"/>
              </a:ext>
            </a:extLst>
          </p:cNvPr>
          <p:cNvSpPr>
            <a:spLocks noGrp="1"/>
          </p:cNvSpPr>
          <p:nvPr>
            <p:ph type="title"/>
          </p:nvPr>
        </p:nvSpPr>
        <p:spPr>
          <a:xfrm>
            <a:off x="594360" y="365125"/>
            <a:ext cx="104013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0" name="Date Placeholder 3">
            <a:extLst>
              <a:ext uri="{FF2B5EF4-FFF2-40B4-BE49-F238E27FC236}">
                <a16:creationId xmlns:a16="http://schemas.microsoft.com/office/drawing/2014/main" id="{EF47083A-6D76-4B4D-87CA-E08E212F781D}"/>
              </a:ext>
            </a:extLst>
          </p:cNvPr>
          <p:cNvSpPr>
            <a:spLocks noGrp="1"/>
          </p:cNvSpPr>
          <p:nvPr>
            <p:ph type="dt" sz="half" idx="2"/>
          </p:nvPr>
        </p:nvSpPr>
        <p:spPr>
          <a:xfrm>
            <a:off x="1133648" y="6332220"/>
            <a:ext cx="1313180" cy="247651"/>
          </a:xfrm>
          <a:prstGeom prst="rect">
            <a:avLst/>
          </a:prstGeom>
        </p:spPr>
        <p:txBody>
          <a:bodyPr vert="horz" lIns="0" tIns="0" rIns="0" bIns="0" rtlCol="0" anchor="t" anchorCtr="0"/>
          <a:lstStyle>
            <a:lvl1pPr algn="l">
              <a:defRPr sz="1100" b="0" i="0">
                <a:solidFill>
                  <a:schemeClr val="bg1"/>
                </a:solidFill>
                <a:latin typeface="+mn-lt"/>
              </a:defRPr>
            </a:lvl1pPr>
          </a:lstStyle>
          <a:p>
            <a:endParaRPr lang="en-US" dirty="0">
              <a:latin typeface="+mn-lt"/>
            </a:endParaRPr>
          </a:p>
        </p:txBody>
      </p:sp>
      <p:sp>
        <p:nvSpPr>
          <p:cNvPr id="32" name="Slide Number Placeholder 5">
            <a:extLst>
              <a:ext uri="{FF2B5EF4-FFF2-40B4-BE49-F238E27FC236}">
                <a16:creationId xmlns:a16="http://schemas.microsoft.com/office/drawing/2014/main" id="{C8ADA0DF-3751-9A48-8A21-59F01C782D7C}"/>
              </a:ext>
            </a:extLst>
          </p:cNvPr>
          <p:cNvSpPr>
            <a:spLocks noGrp="1"/>
          </p:cNvSpPr>
          <p:nvPr>
            <p:ph type="sldNum" sz="quarter" idx="4"/>
          </p:nvPr>
        </p:nvSpPr>
        <p:spPr>
          <a:xfrm>
            <a:off x="594360" y="6332220"/>
            <a:ext cx="523240" cy="247651"/>
          </a:xfrm>
          <a:prstGeom prst="rect">
            <a:avLst/>
          </a:prstGeom>
        </p:spPr>
        <p:txBody>
          <a:bodyPr vert="horz" lIns="0" tIns="0" rIns="0" bIns="0" rtlCol="0" anchor="t" anchorCtr="0"/>
          <a:lstStyle>
            <a:lvl1pPr algn="l">
              <a:defRPr sz="1100" b="1" i="0">
                <a:solidFill>
                  <a:schemeClr val="bg1"/>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711" r:id="rId1"/>
    <p:sldLayoutId id="2147483698" r:id="rId2"/>
    <p:sldLayoutId id="2147483710" r:id="rId3"/>
    <p:sldLayoutId id="2147483700" r:id="rId4"/>
    <p:sldLayoutId id="2147483701" r:id="rId5"/>
    <p:sldLayoutId id="2147483659" r:id="rId6"/>
    <p:sldLayoutId id="2147483709" r:id="rId7"/>
    <p:sldLayoutId id="2147483708" r:id="rId8"/>
    <p:sldLayoutId id="2147483707" r:id="rId9"/>
    <p:sldLayoutId id="2147483706" r:id="rId10"/>
    <p:sldLayoutId id="2147483705" r:id="rId11"/>
    <p:sldLayoutId id="2147483704" r:id="rId12"/>
    <p:sldLayoutId id="2147483703" r:id="rId13"/>
  </p:sldLayoutIdLst>
  <p:hf sldNum="0" hdr="0" ftr="0" dt="0"/>
  <p:txStyles>
    <p:titleStyle>
      <a:lvl1pPr algn="l" defTabSz="914400" rtl="0" eaLnBrk="1" latinLnBrk="0" hangingPunct="1">
        <a:lnSpc>
          <a:spcPct val="80000"/>
        </a:lnSpc>
        <a:spcBef>
          <a:spcPct val="0"/>
        </a:spcBef>
        <a:buNone/>
        <a:defRPr sz="44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83464"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600" userDrawn="1">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pos="39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1D9D6-2977-ABCD-FDF8-51AFA5064E54}"/>
              </a:ext>
            </a:extLst>
          </p:cNvPr>
          <p:cNvSpPr>
            <a:spLocks noGrp="1"/>
          </p:cNvSpPr>
          <p:nvPr>
            <p:ph type="ctrTitle"/>
          </p:nvPr>
        </p:nvSpPr>
        <p:spPr>
          <a:xfrm>
            <a:off x="3534239" y="382949"/>
            <a:ext cx="7632441" cy="830424"/>
          </a:xfrm>
        </p:spPr>
        <p:txBody>
          <a:bodyPr/>
          <a:lstStyle/>
          <a:p>
            <a:pPr algn="ctr"/>
            <a:r>
              <a:rPr lang="en-US" dirty="0"/>
              <a:t>Business Problem</a:t>
            </a:r>
          </a:p>
        </p:txBody>
      </p:sp>
      <p:sp>
        <p:nvSpPr>
          <p:cNvPr id="3" name="Rectangle 2">
            <a:extLst>
              <a:ext uri="{FF2B5EF4-FFF2-40B4-BE49-F238E27FC236}">
                <a16:creationId xmlns:a16="http://schemas.microsoft.com/office/drawing/2014/main" id="{E92B6735-512A-E737-01D1-F54FBF402901}"/>
              </a:ext>
            </a:extLst>
          </p:cNvPr>
          <p:cNvSpPr/>
          <p:nvPr/>
        </p:nvSpPr>
        <p:spPr>
          <a:xfrm>
            <a:off x="2951485" y="2001810"/>
            <a:ext cx="9237307" cy="2021306"/>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b="1" i="1" dirty="0">
                <a:latin typeface="Times New Roman" panose="02020603050405020304" pitchFamily="18" charset="0"/>
                <a:cs typeface="Times New Roman" panose="02020603050405020304" pitchFamily="18" charset="0"/>
              </a:rPr>
              <a:t>Nike lacks clear insights into product performance, customer preferences, and seasonal demand leading to missed sales opportunities and suboptimal inventory and marketing decisions</a:t>
            </a:r>
            <a:endParaRPr lang="en-IN"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90304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0BF65-C84B-45C3-72CA-AFDA68851174}"/>
              </a:ext>
            </a:extLst>
          </p:cNvPr>
          <p:cNvSpPr>
            <a:spLocks noGrp="1"/>
          </p:cNvSpPr>
          <p:nvPr>
            <p:ph type="title"/>
          </p:nvPr>
        </p:nvSpPr>
        <p:spPr>
          <a:xfrm>
            <a:off x="202126" y="195467"/>
            <a:ext cx="2887584" cy="472901"/>
          </a:xfrm>
        </p:spPr>
        <p:txBody>
          <a:bodyPr/>
          <a:lstStyle/>
          <a:p>
            <a:r>
              <a:rPr lang="en-US" sz="3600" dirty="0">
                <a:latin typeface="Times New Roman" panose="02020603050405020304" pitchFamily="18" charset="0"/>
                <a:cs typeface="Times New Roman" panose="02020603050405020304" pitchFamily="18" charset="0"/>
              </a:rPr>
              <a:t>Project Flow</a:t>
            </a:r>
          </a:p>
        </p:txBody>
      </p:sp>
      <p:graphicFrame>
        <p:nvGraphicFramePr>
          <p:cNvPr id="7" name="Content Placeholder 6">
            <a:extLst>
              <a:ext uri="{FF2B5EF4-FFF2-40B4-BE49-F238E27FC236}">
                <a16:creationId xmlns:a16="http://schemas.microsoft.com/office/drawing/2014/main" id="{47F7D6A0-5257-798B-8A6E-EC57B3CB78F9}"/>
              </a:ext>
            </a:extLst>
          </p:cNvPr>
          <p:cNvGraphicFramePr>
            <a:graphicFrameLocks noGrp="1"/>
          </p:cNvGraphicFramePr>
          <p:nvPr>
            <p:ph sz="quarter" idx="13"/>
            <p:extLst>
              <p:ext uri="{D42A27DB-BD31-4B8C-83A1-F6EECF244321}">
                <p14:modId xmlns:p14="http://schemas.microsoft.com/office/powerpoint/2010/main" val="3741345365"/>
              </p:ext>
            </p:extLst>
          </p:nvPr>
        </p:nvGraphicFramePr>
        <p:xfrm>
          <a:off x="382555" y="849086"/>
          <a:ext cx="6316825" cy="617686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Rectangle 7">
            <a:extLst>
              <a:ext uri="{FF2B5EF4-FFF2-40B4-BE49-F238E27FC236}">
                <a16:creationId xmlns:a16="http://schemas.microsoft.com/office/drawing/2014/main" id="{CB9B9754-CDD6-93EF-8F65-F879D6D8F9E3}"/>
              </a:ext>
            </a:extLst>
          </p:cNvPr>
          <p:cNvSpPr/>
          <p:nvPr/>
        </p:nvSpPr>
        <p:spPr>
          <a:xfrm>
            <a:off x="4189445" y="4665306"/>
            <a:ext cx="5150498" cy="331237"/>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r>
              <a:rPr lang="en-US" b="1" dirty="0">
                <a:latin typeface="Times New Roman" panose="02020603050405020304" pitchFamily="18" charset="0"/>
                <a:cs typeface="Times New Roman" panose="02020603050405020304" pitchFamily="18" charset="0"/>
              </a:rPr>
              <a:t>Data Overview :</a:t>
            </a:r>
            <a:endParaRPr lang="en-IN" b="1" dirty="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D789E808-FCF3-2616-244F-E195EF7B5D4A}"/>
              </a:ext>
            </a:extLst>
          </p:cNvPr>
          <p:cNvSpPr/>
          <p:nvPr/>
        </p:nvSpPr>
        <p:spPr>
          <a:xfrm>
            <a:off x="4320074" y="5122508"/>
            <a:ext cx="5150499" cy="727786"/>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342900" indent="-342900">
              <a:buFont typeface="Wingdings" panose="05000000000000000000" pitchFamily="2" charset="2"/>
              <a:buChar char="Ø"/>
            </a:pPr>
            <a:r>
              <a:rPr lang="en-US" sz="2000" dirty="0">
                <a:latin typeface="Times New Roman" panose="02020603050405020304" pitchFamily="18" charset="0"/>
                <a:ea typeface="Calibri" panose="020F0502020204030204" pitchFamily="34" charset="0"/>
                <a:cs typeface="Times New Roman" panose="02020603050405020304" pitchFamily="18" charset="0"/>
              </a:rPr>
              <a:t>Data Size : 50,250 rows X 13 columns</a:t>
            </a:r>
          </a:p>
          <a:p>
            <a:pPr marL="342900" indent="-342900">
              <a:buFont typeface="Wingdings" panose="05000000000000000000" pitchFamily="2" charset="2"/>
              <a:buChar char="Ø"/>
            </a:pPr>
            <a:r>
              <a:rPr lang="en-US" sz="2000" dirty="0">
                <a:latin typeface="Times New Roman" panose="02020603050405020304" pitchFamily="18" charset="0"/>
                <a:ea typeface="Calibri" panose="020F0502020204030204" pitchFamily="34" charset="0"/>
                <a:cs typeface="Times New Roman" panose="02020603050405020304" pitchFamily="18" charset="0"/>
              </a:rPr>
              <a:t>Period Covered : Jan 2023 – Mar 2024</a:t>
            </a:r>
          </a:p>
          <a:p>
            <a:endParaRPr lang="en-US" sz="2000" dirty="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72166585-538B-9EB1-CD17-0B4A939E6477}"/>
              </a:ext>
            </a:extLst>
          </p:cNvPr>
          <p:cNvSpPr/>
          <p:nvPr/>
        </p:nvSpPr>
        <p:spPr>
          <a:xfrm>
            <a:off x="3993503" y="5684675"/>
            <a:ext cx="2174032" cy="331237"/>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r>
              <a:rPr lang="en-US" sz="2000" b="1" i="1" dirty="0">
                <a:latin typeface="Times New Roman" panose="02020603050405020304" pitchFamily="18" charset="0"/>
                <a:cs typeface="Times New Roman" panose="02020603050405020304" pitchFamily="18" charset="0"/>
              </a:rPr>
              <a:t>Target variable:</a:t>
            </a:r>
          </a:p>
        </p:txBody>
      </p:sp>
      <p:sp>
        <p:nvSpPr>
          <p:cNvPr id="12" name="Rectangle 11">
            <a:extLst>
              <a:ext uri="{FF2B5EF4-FFF2-40B4-BE49-F238E27FC236}">
                <a16:creationId xmlns:a16="http://schemas.microsoft.com/office/drawing/2014/main" id="{54AF88D2-8FA9-42C7-6F5F-162D714AB7EA}"/>
              </a:ext>
            </a:extLst>
          </p:cNvPr>
          <p:cNvSpPr/>
          <p:nvPr/>
        </p:nvSpPr>
        <p:spPr>
          <a:xfrm>
            <a:off x="4320074" y="5976258"/>
            <a:ext cx="7035282" cy="727786"/>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just"/>
            <a:r>
              <a:rPr lang="en-US" sz="2000" b="1" dirty="0">
                <a:latin typeface="Times New Roman" panose="02020603050405020304" pitchFamily="18" charset="0"/>
                <a:cs typeface="Times New Roman" panose="02020603050405020304" pitchFamily="18" charset="0"/>
              </a:rPr>
              <a:t>Revenue: </a:t>
            </a:r>
            <a:r>
              <a:rPr lang="en-US" sz="2000" dirty="0">
                <a:latin typeface="Times New Roman" panose="02020603050405020304" pitchFamily="18" charset="0"/>
                <a:cs typeface="Times New Roman" panose="02020603050405020304" pitchFamily="18" charset="0"/>
              </a:rPr>
              <a:t>Represents</a:t>
            </a:r>
            <a:r>
              <a:rPr lang="en-US" dirty="0">
                <a:latin typeface="Times New Roman" panose="02020603050405020304" pitchFamily="18" charset="0"/>
                <a:cs typeface="Times New Roman" panose="02020603050405020304" pitchFamily="18" charset="0"/>
              </a:rPr>
              <a:t> overall sales performance and directly reflects Nike’s business growth</a:t>
            </a:r>
            <a:endParaRPr lang="en-IN" dirty="0"/>
          </a:p>
        </p:txBody>
      </p:sp>
    </p:spTree>
    <p:extLst>
      <p:ext uri="{BB962C8B-B14F-4D97-AF65-F5344CB8AC3E}">
        <p14:creationId xmlns:p14="http://schemas.microsoft.com/office/powerpoint/2010/main" val="33466857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37279A-330D-886F-340D-494A5005E5FC}"/>
              </a:ext>
            </a:extLst>
          </p:cNvPr>
          <p:cNvSpPr>
            <a:spLocks noGrp="1"/>
          </p:cNvSpPr>
          <p:nvPr>
            <p:ph type="title"/>
          </p:nvPr>
        </p:nvSpPr>
        <p:spPr>
          <a:xfrm>
            <a:off x="1527142" y="4937161"/>
            <a:ext cx="10224738" cy="1059378"/>
          </a:xfrm>
        </p:spPr>
        <p:txBody>
          <a:bodyPr anchor="b">
            <a:normAutofit/>
          </a:bodyPr>
          <a:lstStyle/>
          <a:p>
            <a:pPr marL="342900" indent="-342900" algn="ctr">
              <a:buFont typeface="Wingdings" panose="05000000000000000000" pitchFamily="2" charset="2"/>
              <a:buChar char="Ø"/>
            </a:pPr>
            <a:r>
              <a:rPr lang="en-US" sz="2000" b="0" dirty="0">
                <a:latin typeface="Times New Roman" panose="02020603050405020304" pitchFamily="18" charset="0"/>
                <a:cs typeface="Times New Roman" panose="02020603050405020304" pitchFamily="18" charset="0"/>
              </a:rPr>
              <a:t>Most Nike sales revenue falls between 8000-12000 showing a  high concentration of mid-range sales. However, a few transaction reach beyond 1,00,000 indicating rare but reflecting lower demand for premium-priced products.</a:t>
            </a:r>
          </a:p>
        </p:txBody>
      </p:sp>
      <p:pic>
        <p:nvPicPr>
          <p:cNvPr id="14" name="Picture Placeholder 13" descr="A graph showing sales growth&#10;&#10;AI-generated content may be incorrect.">
            <a:extLst>
              <a:ext uri="{FF2B5EF4-FFF2-40B4-BE49-F238E27FC236}">
                <a16:creationId xmlns:a16="http://schemas.microsoft.com/office/drawing/2014/main" id="{0B4A08D7-6932-0FD7-C0D6-05ED60BDC213}"/>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440119" y="44282"/>
            <a:ext cx="11081321" cy="4892879"/>
          </a:xfrm>
          <a:noFill/>
          <a:ln>
            <a:solidFill>
              <a:schemeClr val="tx1">
                <a:lumMod val="95000"/>
              </a:schemeClr>
            </a:solidFill>
          </a:ln>
        </p:spPr>
      </p:pic>
      <p:sp>
        <p:nvSpPr>
          <p:cNvPr id="2" name="TextBox 1">
            <a:extLst>
              <a:ext uri="{FF2B5EF4-FFF2-40B4-BE49-F238E27FC236}">
                <a16:creationId xmlns:a16="http://schemas.microsoft.com/office/drawing/2014/main" id="{9D4EEF51-E078-4BC8-966C-8847A5A43BCA}"/>
              </a:ext>
            </a:extLst>
          </p:cNvPr>
          <p:cNvSpPr txBox="1"/>
          <p:nvPr/>
        </p:nvSpPr>
        <p:spPr>
          <a:xfrm>
            <a:off x="9144000" y="452387"/>
            <a:ext cx="2377440" cy="369332"/>
          </a:xfrm>
          <a:prstGeom prst="rect">
            <a:avLst/>
          </a:prstGeom>
          <a:noFill/>
        </p:spPr>
        <p:txBody>
          <a:bodyPr wrap="square" rtlCol="0">
            <a:spAutoFit/>
          </a:bodyPr>
          <a:lstStyle/>
          <a:p>
            <a:r>
              <a:rPr lang="en-US" dirty="0">
                <a:solidFill>
                  <a:schemeClr val="bg1"/>
                </a:solidFill>
                <a:sym typeface="Wingdings" panose="05000000000000000000" pitchFamily="2" charset="2"/>
              </a:rPr>
              <a:t> </a:t>
            </a:r>
            <a:endParaRPr lang="en-US" dirty="0">
              <a:solidFill>
                <a:schemeClr val="bg1"/>
              </a:solidFill>
            </a:endParaRPr>
          </a:p>
        </p:txBody>
      </p:sp>
    </p:spTree>
    <p:extLst>
      <p:ext uri="{BB962C8B-B14F-4D97-AF65-F5344CB8AC3E}">
        <p14:creationId xmlns:p14="http://schemas.microsoft.com/office/powerpoint/2010/main" val="2249372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CFB4D595-8C6E-68E7-8E62-481B1429CF1E}"/>
              </a:ext>
            </a:extLst>
          </p:cNvPr>
          <p:cNvSpPr>
            <a:spLocks noGrp="1"/>
          </p:cNvSpPr>
          <p:nvPr>
            <p:ph type="title"/>
          </p:nvPr>
        </p:nvSpPr>
        <p:spPr>
          <a:xfrm>
            <a:off x="2079057" y="4511937"/>
            <a:ext cx="9086248" cy="648171"/>
          </a:xfrm>
        </p:spPr>
        <p:txBody>
          <a:bodyPr>
            <a:noAutofit/>
          </a:bodyPr>
          <a:lstStyle/>
          <a:p>
            <a:pPr marL="285750" indent="-285750">
              <a:buFont typeface="Wingdings" panose="05000000000000000000" pitchFamily="2" charset="2"/>
              <a:buChar char="Ø"/>
            </a:pPr>
            <a:r>
              <a:rPr lang="en-US" sz="1800" dirty="0">
                <a:latin typeface="Times New Roman" panose="02020603050405020304" pitchFamily="18" charset="0"/>
                <a:cs typeface="Times New Roman" panose="02020603050405020304" pitchFamily="18" charset="0"/>
              </a:rPr>
              <a:t>Steady Growth</a:t>
            </a:r>
            <a:r>
              <a:rPr lang="en-US" sz="1800" b="0" dirty="0">
                <a:latin typeface="Times New Roman" panose="02020603050405020304" pitchFamily="18" charset="0"/>
                <a:cs typeface="Times New Roman" panose="02020603050405020304" pitchFamily="18" charset="0"/>
              </a:rPr>
              <a:t>(Jan-Apr)Sales start strong in the first quarter and keep rising till Apr showing early-year performance.</a:t>
            </a:r>
            <a:br>
              <a:rPr lang="en-US" sz="1800" b="0" dirty="0">
                <a:latin typeface="Times New Roman" panose="02020603050405020304" pitchFamily="18" charset="0"/>
                <a:cs typeface="Times New Roman" panose="02020603050405020304" pitchFamily="18" charset="0"/>
              </a:rPr>
            </a:br>
            <a:endParaRPr lang="en-US" sz="1800" b="0"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2559E881-FC5B-D73A-252E-599746B28422}"/>
              </a:ext>
            </a:extLst>
          </p:cNvPr>
          <p:cNvSpPr/>
          <p:nvPr/>
        </p:nvSpPr>
        <p:spPr>
          <a:xfrm>
            <a:off x="1963555" y="5128380"/>
            <a:ext cx="9278708" cy="60213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Ø"/>
            </a:pPr>
            <a:r>
              <a:rPr lang="en-US" dirty="0">
                <a:solidFill>
                  <a:schemeClr val="bg1"/>
                </a:solidFill>
                <a:latin typeface="Times New Roman" panose="02020603050405020304" pitchFamily="18" charset="0"/>
                <a:cs typeface="Times New Roman" panose="02020603050405020304" pitchFamily="18" charset="0"/>
              </a:rPr>
              <a:t> </a:t>
            </a:r>
            <a:r>
              <a:rPr lang="en-US" b="1" dirty="0">
                <a:solidFill>
                  <a:schemeClr val="bg1"/>
                </a:solidFill>
                <a:latin typeface="Times New Roman" panose="02020603050405020304" pitchFamily="18" charset="0"/>
                <a:cs typeface="Times New Roman" panose="02020603050405020304" pitchFamily="18" charset="0"/>
              </a:rPr>
              <a:t>Mid-Year Drop</a:t>
            </a:r>
            <a:r>
              <a:rPr lang="en-US" dirty="0">
                <a:solidFill>
                  <a:schemeClr val="bg1"/>
                </a:solidFill>
                <a:latin typeface="Times New Roman" panose="02020603050405020304" pitchFamily="18" charset="0"/>
                <a:cs typeface="Times New Roman" panose="02020603050405020304" pitchFamily="18" charset="0"/>
              </a:rPr>
              <a:t>: Revenue declines from May to July, indicating a seasonal slowdown in sales.</a:t>
            </a:r>
          </a:p>
        </p:txBody>
      </p:sp>
      <p:sp>
        <p:nvSpPr>
          <p:cNvPr id="4" name="Rectangle 3">
            <a:extLst>
              <a:ext uri="{FF2B5EF4-FFF2-40B4-BE49-F238E27FC236}">
                <a16:creationId xmlns:a16="http://schemas.microsoft.com/office/drawing/2014/main" id="{62859BA9-F410-8C72-B367-E2BC75DEFD09}"/>
              </a:ext>
            </a:extLst>
          </p:cNvPr>
          <p:cNvSpPr/>
          <p:nvPr/>
        </p:nvSpPr>
        <p:spPr>
          <a:xfrm>
            <a:off x="1963555" y="6102224"/>
            <a:ext cx="9872237" cy="125321"/>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285750" indent="-285750" algn="ctr">
              <a:buFont typeface="Wingdings" panose="05000000000000000000" pitchFamily="2" charset="2"/>
              <a:buChar char="Ø"/>
            </a:pPr>
            <a:r>
              <a:rPr lang="en-US" b="1" dirty="0">
                <a:latin typeface="Times New Roman" panose="02020603050405020304" pitchFamily="18" charset="0"/>
                <a:cs typeface="Times New Roman" panose="02020603050405020304" pitchFamily="18" charset="0"/>
              </a:rPr>
              <a:t>Year-End Peak</a:t>
            </a:r>
            <a:r>
              <a:rPr lang="en-US" dirty="0">
                <a:latin typeface="Times New Roman" panose="02020603050405020304" pitchFamily="18" charset="0"/>
                <a:cs typeface="Times New Roman" panose="02020603050405020304" pitchFamily="18" charset="0"/>
              </a:rPr>
              <a:t>: From August onward, sales grow sharply, reaching their highest levels in November and December due to festive demand.</a:t>
            </a:r>
            <a:endParaRPr lang="en-IN" dirty="0">
              <a:latin typeface="Times New Roman" panose="02020603050405020304" pitchFamily="18" charset="0"/>
              <a:cs typeface="Times New Roman" panose="02020603050405020304" pitchFamily="18" charset="0"/>
            </a:endParaRPr>
          </a:p>
        </p:txBody>
      </p:sp>
      <p:pic>
        <p:nvPicPr>
          <p:cNvPr id="18" name="Content Placeholder 17">
            <a:extLst>
              <a:ext uri="{FF2B5EF4-FFF2-40B4-BE49-F238E27FC236}">
                <a16:creationId xmlns:a16="http://schemas.microsoft.com/office/drawing/2014/main" id="{90B4CB67-0891-4C23-8505-20424F94D5DA}"/>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583859" y="74924"/>
            <a:ext cx="11165305" cy="4111341"/>
          </a:xfrm>
        </p:spPr>
      </p:pic>
    </p:spTree>
    <p:extLst>
      <p:ext uri="{BB962C8B-B14F-4D97-AF65-F5344CB8AC3E}">
        <p14:creationId xmlns:p14="http://schemas.microsoft.com/office/powerpoint/2010/main" val="144087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5D3755-C3E2-975E-DE68-CDECC4B526EC}"/>
              </a:ext>
            </a:extLst>
          </p:cNvPr>
          <p:cNvSpPr>
            <a:spLocks noGrp="1"/>
          </p:cNvSpPr>
          <p:nvPr>
            <p:ph type="title"/>
          </p:nvPr>
        </p:nvSpPr>
        <p:spPr>
          <a:xfrm flipH="1">
            <a:off x="475861" y="102875"/>
            <a:ext cx="118499" cy="45719"/>
          </a:xfrm>
        </p:spPr>
        <p:txBody>
          <a:bodyPr/>
          <a:lstStyle/>
          <a:p>
            <a:endParaRPr lang="en-US" dirty="0"/>
          </a:p>
        </p:txBody>
      </p:sp>
      <p:grpSp>
        <p:nvGrpSpPr>
          <p:cNvPr id="19" name="Group 18">
            <a:extLst>
              <a:ext uri="{FF2B5EF4-FFF2-40B4-BE49-F238E27FC236}">
                <a16:creationId xmlns:a16="http://schemas.microsoft.com/office/drawing/2014/main" id="{C78CEA4F-D72A-C069-6A51-328B103CA0C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Freeform 19">
              <a:extLst>
                <a:ext uri="{FF2B5EF4-FFF2-40B4-BE49-F238E27FC236}">
                  <a16:creationId xmlns:a16="http://schemas.microsoft.com/office/drawing/2014/main" id="{7E473402-19FD-A5B0-5CB6-E5F3926D3828}"/>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1" name="Freeform 20">
              <a:extLst>
                <a:ext uri="{FF2B5EF4-FFF2-40B4-BE49-F238E27FC236}">
                  <a16:creationId xmlns:a16="http://schemas.microsoft.com/office/drawing/2014/main" id="{879D1CAD-2EA2-9376-7B64-0C3AC590F651}"/>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2" name="Freeform 21">
              <a:extLst>
                <a:ext uri="{FF2B5EF4-FFF2-40B4-BE49-F238E27FC236}">
                  <a16:creationId xmlns:a16="http://schemas.microsoft.com/office/drawing/2014/main" id="{B16F8906-918C-BE0B-A4AB-6A1D48150AC7}"/>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5" name="Rectangle 4">
            <a:extLst>
              <a:ext uri="{FF2B5EF4-FFF2-40B4-BE49-F238E27FC236}">
                <a16:creationId xmlns:a16="http://schemas.microsoft.com/office/drawing/2014/main" id="{1B9B3B84-00D5-53E0-2AB8-C0773E5F2DF8}"/>
              </a:ext>
            </a:extLst>
          </p:cNvPr>
          <p:cNvSpPr/>
          <p:nvPr/>
        </p:nvSpPr>
        <p:spPr>
          <a:xfrm>
            <a:off x="968354" y="4847070"/>
            <a:ext cx="11133450" cy="1491283"/>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Ø"/>
            </a:pPr>
            <a:r>
              <a:rPr lang="en-US" dirty="0">
                <a:solidFill>
                  <a:schemeClr val="bg1"/>
                </a:solidFill>
                <a:latin typeface="Times New Roman" panose="02020603050405020304" pitchFamily="18" charset="0"/>
                <a:cs typeface="Times New Roman" panose="02020603050405020304" pitchFamily="18" charset="0"/>
              </a:rPr>
              <a:t>The Running and Lifestyle categories have the highest sales, indicating strong costumer demand in these segments.</a:t>
            </a:r>
          </a:p>
          <a:p>
            <a:pPr algn="ctr"/>
            <a:endParaRPr lang="en-US" dirty="0">
              <a:solidFill>
                <a:schemeClr val="bg1"/>
              </a:solidFill>
              <a:latin typeface="Times New Roman" panose="02020603050405020304" pitchFamily="18" charset="0"/>
              <a:cs typeface="Times New Roman" panose="02020603050405020304" pitchFamily="18" charset="0"/>
            </a:endParaRPr>
          </a:p>
          <a:p>
            <a:pPr marL="285750" indent="-285750" algn="ctr">
              <a:buFont typeface="Wingdings" panose="05000000000000000000" pitchFamily="2" charset="2"/>
              <a:buChar char="Ø"/>
            </a:pPr>
            <a:r>
              <a:rPr lang="en-US" dirty="0">
                <a:solidFill>
                  <a:schemeClr val="bg1"/>
                </a:solidFill>
                <a:latin typeface="Times New Roman" panose="02020603050405020304" pitchFamily="18" charset="0"/>
                <a:cs typeface="Times New Roman" panose="02020603050405020304" pitchFamily="18" charset="0"/>
              </a:rPr>
              <a:t>Basketball and Training products also perform well, while kids and football lines have comparatively lower sales suggesting potential areas for improvement or targeted marketing,.</a:t>
            </a:r>
            <a:endParaRPr lang="en-IN" dirty="0">
              <a:solidFill>
                <a:schemeClr val="bg1"/>
              </a:solidFill>
              <a:latin typeface="Times New Roman" panose="02020603050405020304" pitchFamily="18" charset="0"/>
              <a:cs typeface="Times New Roman" panose="02020603050405020304" pitchFamily="18" charset="0"/>
            </a:endParaRPr>
          </a:p>
        </p:txBody>
      </p:sp>
      <p:pic>
        <p:nvPicPr>
          <p:cNvPr id="8" name="Content Placeholder 7">
            <a:extLst>
              <a:ext uri="{FF2B5EF4-FFF2-40B4-BE49-F238E27FC236}">
                <a16:creationId xmlns:a16="http://schemas.microsoft.com/office/drawing/2014/main" id="{8828C6BA-7096-42E4-AB67-10457503102E}"/>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793494" y="0"/>
            <a:ext cx="9900173" cy="4470400"/>
          </a:xfrm>
        </p:spPr>
      </p:pic>
    </p:spTree>
    <p:extLst>
      <p:ext uri="{BB962C8B-B14F-4D97-AF65-F5344CB8AC3E}">
        <p14:creationId xmlns:p14="http://schemas.microsoft.com/office/powerpoint/2010/main" val="3200312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633A5-8BE3-D44D-57F3-2EF161376844}"/>
            </a:ext>
          </a:extLst>
        </p:cNvPr>
        <p:cNvGrpSpPr/>
        <p:nvPr/>
      </p:nvGrpSpPr>
      <p:grpSpPr>
        <a:xfrm>
          <a:off x="0" y="0"/>
          <a:ext cx="0" cy="0"/>
          <a:chOff x="0" y="0"/>
          <a:chExt cx="0" cy="0"/>
        </a:xfrm>
      </p:grpSpPr>
      <p:pic>
        <p:nvPicPr>
          <p:cNvPr id="4" name="Picture 3" descr="A graph showing sales and sales&#10;&#10;AI-generated content may be incorrect.">
            <a:extLst>
              <a:ext uri="{FF2B5EF4-FFF2-40B4-BE49-F238E27FC236}">
                <a16:creationId xmlns:a16="http://schemas.microsoft.com/office/drawing/2014/main" id="{BC1CCEB8-A3BF-43C3-EC0E-9AA957C30F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220" y="0"/>
            <a:ext cx="11524779" cy="4843305"/>
          </a:xfrm>
          <a:prstGeom prst="rect">
            <a:avLst/>
          </a:prstGeom>
        </p:spPr>
      </p:pic>
      <p:sp>
        <p:nvSpPr>
          <p:cNvPr id="5" name="Rectangle 4">
            <a:extLst>
              <a:ext uri="{FF2B5EF4-FFF2-40B4-BE49-F238E27FC236}">
                <a16:creationId xmlns:a16="http://schemas.microsoft.com/office/drawing/2014/main" id="{B11F6F10-AF55-F3C6-24D9-8D4B4B26C374}"/>
              </a:ext>
            </a:extLst>
          </p:cNvPr>
          <p:cNvSpPr/>
          <p:nvPr/>
        </p:nvSpPr>
        <p:spPr>
          <a:xfrm>
            <a:off x="5307683" y="4843305"/>
            <a:ext cx="6772589" cy="130628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Wingdings" panose="05000000000000000000" pitchFamily="2" charset="2"/>
              <a:buChar char="q"/>
            </a:pPr>
            <a:r>
              <a:rPr lang="en-US" dirty="0">
                <a:solidFill>
                  <a:schemeClr val="bg1"/>
                </a:solidFill>
                <a:latin typeface="Times New Roman" panose="02020603050405020304" pitchFamily="18" charset="0"/>
                <a:cs typeface="Times New Roman" panose="02020603050405020304" pitchFamily="18" charset="0"/>
              </a:rPr>
              <a:t>Nike Air Max 90 essential leads as the highest selling product, Followed closely by Nike dunk low retro and Nike Cortez Classic, Overall, The Air Max series dominated the top positions ,showing strong costumer preference for comfort and style-Oriented footwear.</a:t>
            </a:r>
            <a:endParaRPr lang="en-IN"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9059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A03355B-4434-A93F-55D9-25B0EA2A6F9A}"/>
              </a:ext>
            </a:extLst>
          </p:cNvPr>
          <p:cNvSpPr/>
          <p:nvPr/>
        </p:nvSpPr>
        <p:spPr>
          <a:xfrm>
            <a:off x="223935" y="5057192"/>
            <a:ext cx="11635273" cy="1147665"/>
          </a:xfrm>
          <a:prstGeom prst="rect">
            <a:avLst/>
          </a:prstGeom>
          <a:solidFill>
            <a:schemeClr val="tx1"/>
          </a:solidFill>
          <a:ln>
            <a:solidFill>
              <a:schemeClr val="tx1"/>
            </a:solidFill>
          </a:ln>
        </p:spPr>
        <p:style>
          <a:lnRef idx="1">
            <a:schemeClr val="accent1"/>
          </a:lnRef>
          <a:fillRef idx="2">
            <a:schemeClr val="accent1"/>
          </a:fillRef>
          <a:effectRef idx="1">
            <a:schemeClr val="accent1"/>
          </a:effectRef>
          <a:fontRef idx="minor">
            <a:schemeClr val="dk1"/>
          </a:fontRef>
        </p:style>
        <p:txBody>
          <a:bodyPr rtlCol="0" anchor="ctr"/>
          <a:lstStyle/>
          <a:p>
            <a:pPr marL="285750" indent="-285750">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Sales are highest in January and march.</a:t>
            </a:r>
          </a:p>
          <a:p>
            <a:pPr marL="285750" indent="-285750">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Running and lifestyle Categories lead consistently cross months.</a:t>
            </a:r>
          </a:p>
          <a:p>
            <a:pPr marL="285750" indent="-285750">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Kids and football product lines have lower sales performance</a:t>
            </a:r>
            <a:r>
              <a:rPr lang="en-US" dirty="0"/>
              <a:t>.</a:t>
            </a:r>
            <a:endParaRPr lang="en-IN" dirty="0"/>
          </a:p>
        </p:txBody>
      </p:sp>
      <p:pic>
        <p:nvPicPr>
          <p:cNvPr id="3" name="Picture 2">
            <a:extLst>
              <a:ext uri="{FF2B5EF4-FFF2-40B4-BE49-F238E27FC236}">
                <a16:creationId xmlns:a16="http://schemas.microsoft.com/office/drawing/2014/main" id="{D80F51F8-EB1E-49EE-8B2B-B229012707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003" y="77002"/>
            <a:ext cx="12041204" cy="4891783"/>
          </a:xfrm>
          <a:prstGeom prst="rect">
            <a:avLst/>
          </a:prstGeom>
        </p:spPr>
      </p:pic>
    </p:spTree>
    <p:extLst>
      <p:ext uri="{BB962C8B-B14F-4D97-AF65-F5344CB8AC3E}">
        <p14:creationId xmlns:p14="http://schemas.microsoft.com/office/powerpoint/2010/main" val="8884842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111B94A2-2BF7-4B6C-A611-06FCEDC62E52}"/>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0" y="319574"/>
            <a:ext cx="6449668" cy="6538426"/>
          </a:xfrm>
        </p:spPr>
      </p:pic>
      <p:sp>
        <p:nvSpPr>
          <p:cNvPr id="11" name="Rectangle 10">
            <a:extLst>
              <a:ext uri="{FF2B5EF4-FFF2-40B4-BE49-F238E27FC236}">
                <a16:creationId xmlns:a16="http://schemas.microsoft.com/office/drawing/2014/main" id="{13CCD2E1-D1C0-4038-A162-3A19566F07D9}"/>
              </a:ext>
            </a:extLst>
          </p:cNvPr>
          <p:cNvSpPr/>
          <p:nvPr/>
        </p:nvSpPr>
        <p:spPr>
          <a:xfrm>
            <a:off x="5945204" y="307546"/>
            <a:ext cx="5733449" cy="95096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lvl="2"/>
            <a:r>
              <a:rPr lang="en-US" sz="2400" b="1" dirty="0">
                <a:latin typeface="Times New Roman" panose="02020603050405020304" pitchFamily="18" charset="0"/>
                <a:cs typeface="Times New Roman" panose="02020603050405020304" pitchFamily="18" charset="0"/>
              </a:rPr>
              <a:t>Nike.com</a:t>
            </a:r>
            <a:r>
              <a:rPr lang="en-US" sz="24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contributes the </a:t>
            </a:r>
            <a:r>
              <a:rPr lang="en-US" sz="2000" b="1" dirty="0">
                <a:latin typeface="Times New Roman" panose="02020603050405020304" pitchFamily="18" charset="0"/>
                <a:cs typeface="Times New Roman" panose="02020603050405020304" pitchFamily="18" charset="0"/>
              </a:rPr>
              <a:t>highest sales share (35.1%)</a:t>
            </a:r>
            <a:r>
              <a:rPr lang="en-US" sz="2000"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showing </a:t>
            </a:r>
            <a:r>
              <a:rPr lang="en-US" sz="2000" dirty="0">
                <a:latin typeface="Times New Roman" panose="02020603050405020304" pitchFamily="18" charset="0"/>
                <a:cs typeface="Times New Roman" panose="02020603050405020304" pitchFamily="18" charset="0"/>
              </a:rPr>
              <a:t>strong online performance.</a:t>
            </a:r>
          </a:p>
        </p:txBody>
      </p:sp>
      <p:sp>
        <p:nvSpPr>
          <p:cNvPr id="12" name="Rectangle 11">
            <a:extLst>
              <a:ext uri="{FF2B5EF4-FFF2-40B4-BE49-F238E27FC236}">
                <a16:creationId xmlns:a16="http://schemas.microsoft.com/office/drawing/2014/main" id="{648C629C-BF1E-4C78-BC31-08452257CC45}"/>
              </a:ext>
            </a:extLst>
          </p:cNvPr>
          <p:cNvSpPr/>
          <p:nvPr/>
        </p:nvSpPr>
        <p:spPr>
          <a:xfrm>
            <a:off x="6849980" y="1725331"/>
            <a:ext cx="5069305" cy="149190"/>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endParaRPr lang="en-US" dirty="0"/>
          </a:p>
          <a:p>
            <a:r>
              <a:rPr lang="en-US" sz="2400" b="1" dirty="0">
                <a:latin typeface="Times New Roman" panose="02020603050405020304" pitchFamily="18" charset="0"/>
                <a:cs typeface="Times New Roman" panose="02020603050405020304" pitchFamily="18" charset="0"/>
              </a:rPr>
              <a:t>Nike Stores </a:t>
            </a:r>
            <a:r>
              <a:rPr lang="en-US" sz="2000" dirty="0"/>
              <a:t>follow with </a:t>
            </a:r>
            <a:r>
              <a:rPr lang="en-US" sz="2000" b="1" dirty="0"/>
              <a:t>24.9%</a:t>
            </a:r>
            <a:r>
              <a:rPr lang="en-US" sz="2000" dirty="0"/>
              <a:t>, indicating solid offline presence</a:t>
            </a:r>
          </a:p>
        </p:txBody>
      </p:sp>
      <p:sp>
        <p:nvSpPr>
          <p:cNvPr id="3" name="Rectangle 2">
            <a:extLst>
              <a:ext uri="{FF2B5EF4-FFF2-40B4-BE49-F238E27FC236}">
                <a16:creationId xmlns:a16="http://schemas.microsoft.com/office/drawing/2014/main" id="{3FD63FD8-E3D3-45AF-8CF7-3D36A0B5F67E}"/>
              </a:ext>
            </a:extLst>
          </p:cNvPr>
          <p:cNvSpPr/>
          <p:nvPr/>
        </p:nvSpPr>
        <p:spPr>
          <a:xfrm>
            <a:off x="6849980" y="2808169"/>
            <a:ext cx="5181599" cy="1145406"/>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solidFill>
                  <a:schemeClr val="bg1"/>
                </a:solidFill>
                <a:latin typeface="Times New Roman" panose="02020603050405020304" pitchFamily="18" charset="0"/>
                <a:cs typeface="Times New Roman" panose="02020603050405020304" pitchFamily="18" charset="0"/>
              </a:rPr>
              <a:t>Nike Retail </a:t>
            </a:r>
            <a:r>
              <a:rPr lang="en-US" sz="2400" b="1" dirty="0">
                <a:solidFill>
                  <a:schemeClr val="bg1"/>
                </a:solidFill>
              </a:rPr>
              <a:t>:</a:t>
            </a:r>
            <a:r>
              <a:rPr lang="en-US" sz="2000" b="1" dirty="0">
                <a:solidFill>
                  <a:schemeClr val="bg1"/>
                </a:solidFill>
              </a:rPr>
              <a:t> </a:t>
            </a:r>
            <a:r>
              <a:rPr lang="en-US" sz="2000" dirty="0">
                <a:solidFill>
                  <a:schemeClr val="bg1"/>
                </a:solidFill>
              </a:rPr>
              <a:t>Contribution </a:t>
            </a:r>
            <a:r>
              <a:rPr lang="en-US" sz="2000" b="1" dirty="0">
                <a:solidFill>
                  <a:schemeClr val="bg1"/>
                </a:solidFill>
              </a:rPr>
              <a:t>20.2% </a:t>
            </a:r>
            <a:r>
              <a:rPr lang="en-US" sz="2000" dirty="0">
                <a:solidFill>
                  <a:schemeClr val="bg1"/>
                </a:solidFill>
              </a:rPr>
              <a:t>Third-largest channel, meaning partner retailers(multi-brand stores).</a:t>
            </a:r>
            <a:r>
              <a:rPr lang="en-US" sz="2000" b="1" dirty="0">
                <a:solidFill>
                  <a:schemeClr val="bg1"/>
                </a:solidFill>
              </a:rPr>
              <a:t> </a:t>
            </a:r>
          </a:p>
          <a:p>
            <a:endParaRPr lang="en-US" sz="2400" b="1" dirty="0">
              <a:solidFill>
                <a:schemeClr val="bg1"/>
              </a:solidFill>
            </a:endParaRPr>
          </a:p>
          <a:p>
            <a:endParaRPr lang="en-US" sz="2400" b="1" dirty="0">
              <a:solidFill>
                <a:schemeClr val="bg1"/>
              </a:solidFill>
            </a:endParaRPr>
          </a:p>
          <a:p>
            <a:r>
              <a:rPr lang="en-US" sz="2400" b="1" dirty="0">
                <a:solidFill>
                  <a:schemeClr val="bg1"/>
                </a:solidFill>
              </a:rPr>
              <a:t>               </a:t>
            </a:r>
          </a:p>
        </p:txBody>
      </p:sp>
      <p:sp>
        <p:nvSpPr>
          <p:cNvPr id="4" name="Rectangle 3">
            <a:extLst>
              <a:ext uri="{FF2B5EF4-FFF2-40B4-BE49-F238E27FC236}">
                <a16:creationId xmlns:a16="http://schemas.microsoft.com/office/drawing/2014/main" id="{6F0FC24D-E7F6-46E1-BF40-292A98B2EADF}"/>
              </a:ext>
            </a:extLst>
          </p:cNvPr>
          <p:cNvSpPr/>
          <p:nvPr/>
        </p:nvSpPr>
        <p:spPr>
          <a:xfrm>
            <a:off x="6849980" y="3645567"/>
            <a:ext cx="4828673" cy="1915428"/>
          </a:xfrm>
          <a:prstGeom prst="rect">
            <a:avLst/>
          </a:prstGeom>
          <a:solidFill>
            <a:schemeClr val="tx1"/>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latin typeface="Times New Roman" panose="02020603050405020304" pitchFamily="18" charset="0"/>
                <a:cs typeface="Times New Roman" panose="02020603050405020304" pitchFamily="18" charset="0"/>
              </a:rPr>
              <a:t>Marketplace Channel</a:t>
            </a:r>
            <a:r>
              <a:rPr lang="en-US" sz="2400" b="1" dirty="0"/>
              <a:t>: (</a:t>
            </a:r>
            <a:r>
              <a:rPr lang="en-US" b="1" dirty="0">
                <a:latin typeface="Times New Roman" panose="02020603050405020304" pitchFamily="18" charset="0"/>
                <a:cs typeface="Times New Roman" panose="02020603050405020304" pitchFamily="18" charset="0"/>
              </a:rPr>
              <a:t>Amazon, Flipkart)</a:t>
            </a:r>
          </a:p>
          <a:p>
            <a:r>
              <a:rPr lang="en-US" sz="2000" dirty="0">
                <a:latin typeface="Times New Roman" panose="02020603050405020304" pitchFamily="18" charset="0"/>
                <a:cs typeface="Times New Roman" panose="02020603050405020304" pitchFamily="18" charset="0"/>
              </a:rPr>
              <a:t>Contribution: </a:t>
            </a:r>
            <a:r>
              <a:rPr lang="en-US" sz="2000" b="1" dirty="0">
                <a:latin typeface="Times New Roman" panose="02020603050405020304" pitchFamily="18" charset="0"/>
                <a:cs typeface="Times New Roman" panose="02020603050405020304" pitchFamily="18" charset="0"/>
              </a:rPr>
              <a:t>14.8%  </a:t>
            </a:r>
            <a:r>
              <a:rPr lang="en-US" sz="2000" dirty="0">
                <a:latin typeface="Times New Roman" panose="02020603050405020304" pitchFamily="18" charset="0"/>
                <a:cs typeface="Times New Roman" panose="02020603050405020304" pitchFamily="18" charset="0"/>
              </a:rPr>
              <a:t>Shows that customers do buy from online marketplaces.</a:t>
            </a:r>
            <a:endParaRPr lang="en-US" sz="2000" b="1" dirty="0">
              <a:latin typeface="Times New Roman" panose="02020603050405020304" pitchFamily="18" charset="0"/>
              <a:cs typeface="Times New Roman" panose="02020603050405020304" pitchFamily="18" charset="0"/>
            </a:endParaRPr>
          </a:p>
          <a:p>
            <a:endParaRPr lang="en-US" sz="2400" b="1" dirty="0"/>
          </a:p>
          <a:p>
            <a:endParaRPr lang="en-US" sz="2400" b="1" dirty="0"/>
          </a:p>
        </p:txBody>
      </p:sp>
      <p:sp>
        <p:nvSpPr>
          <p:cNvPr id="7" name="Rectangle 6">
            <a:extLst>
              <a:ext uri="{FF2B5EF4-FFF2-40B4-BE49-F238E27FC236}">
                <a16:creationId xmlns:a16="http://schemas.microsoft.com/office/drawing/2014/main" id="{D389486D-938B-4847-999C-140E90D25B1E}"/>
              </a:ext>
            </a:extLst>
          </p:cNvPr>
          <p:cNvSpPr/>
          <p:nvPr/>
        </p:nvSpPr>
        <p:spPr>
          <a:xfrm>
            <a:off x="6849980" y="5616339"/>
            <a:ext cx="5181599" cy="702645"/>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latin typeface="Times New Roman" panose="02020603050405020304" pitchFamily="18" charset="0"/>
                <a:cs typeface="Times New Roman" panose="02020603050405020304" pitchFamily="18" charset="0"/>
              </a:rPr>
              <a:t>Nike APP</a:t>
            </a:r>
            <a:r>
              <a:rPr lang="en-US" sz="2400" b="1" dirty="0"/>
              <a:t>: </a:t>
            </a:r>
            <a:r>
              <a:rPr lang="en-US" sz="2000" dirty="0">
                <a:latin typeface="Times New Roman" panose="02020603050405020304" pitchFamily="18" charset="0"/>
                <a:cs typeface="Times New Roman" panose="02020603050405020304" pitchFamily="18" charset="0"/>
              </a:rPr>
              <a:t>Contribution: 5.0% indicates the app is still under – utilized or not as popular as other platforms.</a:t>
            </a:r>
            <a:endParaRPr lang="en-US" sz="2000" b="1" dirty="0">
              <a:latin typeface="Times New Roman" panose="02020603050405020304" pitchFamily="18" charset="0"/>
              <a:cs typeface="Times New Roman" panose="02020603050405020304" pitchFamily="18" charset="0"/>
            </a:endParaRPr>
          </a:p>
          <a:p>
            <a:endParaRPr lang="en-US" sz="2400" b="1" dirty="0"/>
          </a:p>
          <a:p>
            <a:endParaRPr lang="en-US" sz="2400" b="1" dirty="0"/>
          </a:p>
        </p:txBody>
      </p:sp>
    </p:spTree>
    <p:extLst>
      <p:ext uri="{BB962C8B-B14F-4D97-AF65-F5344CB8AC3E}">
        <p14:creationId xmlns:p14="http://schemas.microsoft.com/office/powerpoint/2010/main" val="298364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A graph of different colored bars&#10;&#10;AI-generated content may be incorrect.">
            <a:extLst>
              <a:ext uri="{FF2B5EF4-FFF2-40B4-BE49-F238E27FC236}">
                <a16:creationId xmlns:a16="http://schemas.microsoft.com/office/drawing/2014/main" id="{22DD4061-736D-DC29-6782-49E6ED3C1E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
            <a:ext cx="12329327" cy="4622243"/>
          </a:xfrm>
          <a:prstGeom prst="rect">
            <a:avLst/>
          </a:prstGeom>
        </p:spPr>
      </p:pic>
      <p:sp>
        <p:nvSpPr>
          <p:cNvPr id="13" name="Rectangle 12">
            <a:extLst>
              <a:ext uri="{FF2B5EF4-FFF2-40B4-BE49-F238E27FC236}">
                <a16:creationId xmlns:a16="http://schemas.microsoft.com/office/drawing/2014/main" id="{BEEE7C3E-B67D-9F2D-4B88-A20F49CC4812}"/>
              </a:ext>
            </a:extLst>
          </p:cNvPr>
          <p:cNvSpPr/>
          <p:nvPr/>
        </p:nvSpPr>
        <p:spPr>
          <a:xfrm>
            <a:off x="2394378" y="4688273"/>
            <a:ext cx="9023420" cy="1195754"/>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Wingdings" panose="05000000000000000000" pitchFamily="2" charset="2"/>
              <a:buChar char="Ø"/>
            </a:pPr>
            <a:r>
              <a:rPr lang="en-US" dirty="0">
                <a:solidFill>
                  <a:schemeClr val="bg1"/>
                </a:solidFill>
                <a:latin typeface="Times New Roman" panose="02020603050405020304" pitchFamily="18" charset="0"/>
                <a:cs typeface="Times New Roman" panose="02020603050405020304" pitchFamily="18" charset="0"/>
              </a:rPr>
              <a:t>The graph shows that males have higher sales across all product lines specially running, lifestyle and basketball categories female sales are significant but consistently lower than male sales.</a:t>
            </a:r>
            <a:endParaRPr lang="en-IN"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276951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EEE3D53-F5B0-2760-06E6-A23487D1EEAA}"/>
              </a:ext>
            </a:extLst>
          </p:cNvPr>
          <p:cNvSpPr/>
          <p:nvPr/>
        </p:nvSpPr>
        <p:spPr>
          <a:xfrm>
            <a:off x="2929812" y="4945224"/>
            <a:ext cx="7623110" cy="1212980"/>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4" name="Rectangle 3">
            <a:extLst>
              <a:ext uri="{FF2B5EF4-FFF2-40B4-BE49-F238E27FC236}">
                <a16:creationId xmlns:a16="http://schemas.microsoft.com/office/drawing/2014/main" id="{9CEDB790-2A5A-3BC9-0AE1-85849DDAE550}"/>
              </a:ext>
            </a:extLst>
          </p:cNvPr>
          <p:cNvSpPr/>
          <p:nvPr/>
        </p:nvSpPr>
        <p:spPr>
          <a:xfrm>
            <a:off x="3200400" y="5225143"/>
            <a:ext cx="7856376" cy="933061"/>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5" name="Rectangle 4">
            <a:extLst>
              <a:ext uri="{FF2B5EF4-FFF2-40B4-BE49-F238E27FC236}">
                <a16:creationId xmlns:a16="http://schemas.microsoft.com/office/drawing/2014/main" id="{925CB0BF-CF15-D4D6-EE23-0E6FA7302E78}"/>
              </a:ext>
            </a:extLst>
          </p:cNvPr>
          <p:cNvSpPr/>
          <p:nvPr/>
        </p:nvSpPr>
        <p:spPr>
          <a:xfrm>
            <a:off x="2631233" y="5029200"/>
            <a:ext cx="8882743" cy="1343608"/>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6" name="Rectangle 5">
            <a:extLst>
              <a:ext uri="{FF2B5EF4-FFF2-40B4-BE49-F238E27FC236}">
                <a16:creationId xmlns:a16="http://schemas.microsoft.com/office/drawing/2014/main" id="{9C5DC48A-CD8D-8E72-2998-E76699353659}"/>
              </a:ext>
            </a:extLst>
          </p:cNvPr>
          <p:cNvSpPr/>
          <p:nvPr/>
        </p:nvSpPr>
        <p:spPr>
          <a:xfrm>
            <a:off x="2299995" y="5451461"/>
            <a:ext cx="8882743" cy="121298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Wingdings" panose="05000000000000000000" pitchFamily="2" charset="2"/>
              <a:buChar char="Ø"/>
            </a:pPr>
            <a:r>
              <a:rPr lang="en-US" dirty="0">
                <a:solidFill>
                  <a:schemeClr val="bg1"/>
                </a:solidFill>
                <a:latin typeface="Times New Roman" panose="02020603050405020304" pitchFamily="18" charset="0"/>
                <a:cs typeface="Times New Roman" panose="02020603050405020304" pitchFamily="18" charset="0"/>
              </a:rPr>
              <a:t>Major metropolitan cities like Delhi Bangalore Ahmedabad and Mumbai records the highest number of Nike orders indicating strong market demand and brand presence in contrast smaller regions such as Nashik, Ludhiana show lower order values, suggesting lower brand reach.</a:t>
            </a:r>
            <a:endParaRPr lang="en-IN" dirty="0">
              <a:solidFill>
                <a:schemeClr val="bg1"/>
              </a:solidFill>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1B344B2B-94E6-4426-844D-4DB6FBDD0D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5835" y="0"/>
            <a:ext cx="11100330" cy="5367485"/>
          </a:xfrm>
          <a:prstGeom prst="rect">
            <a:avLst/>
          </a:prstGeom>
        </p:spPr>
      </p:pic>
    </p:spTree>
    <p:extLst>
      <p:ext uri="{BB962C8B-B14F-4D97-AF65-F5344CB8AC3E}">
        <p14:creationId xmlns:p14="http://schemas.microsoft.com/office/powerpoint/2010/main" val="18507688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sales&#10;&#10;AI-generated content may be incorrect.">
            <a:extLst>
              <a:ext uri="{FF2B5EF4-FFF2-40B4-BE49-F238E27FC236}">
                <a16:creationId xmlns:a16="http://schemas.microsoft.com/office/drawing/2014/main" id="{621C08A3-0E01-D5F2-BA42-C29A3E0C19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0"/>
            <a:ext cx="12192000" cy="4694422"/>
          </a:xfrm>
          <a:prstGeom prst="rect">
            <a:avLst/>
          </a:prstGeom>
          <a:noFill/>
        </p:spPr>
      </p:pic>
      <p:sp>
        <p:nvSpPr>
          <p:cNvPr id="2" name="Rectangle 1">
            <a:extLst>
              <a:ext uri="{FF2B5EF4-FFF2-40B4-BE49-F238E27FC236}">
                <a16:creationId xmlns:a16="http://schemas.microsoft.com/office/drawing/2014/main" id="{89CD7C06-F8C2-FB11-B39D-B8FB7D4039C7}"/>
              </a:ext>
            </a:extLst>
          </p:cNvPr>
          <p:cNvSpPr/>
          <p:nvPr/>
        </p:nvSpPr>
        <p:spPr>
          <a:xfrm>
            <a:off x="2799184" y="5038531"/>
            <a:ext cx="8462865" cy="1184987"/>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just">
              <a:buFont typeface="Wingdings" panose="05000000000000000000" pitchFamily="2" charset="2"/>
              <a:buChar char="Ø"/>
            </a:pPr>
            <a:r>
              <a:rPr lang="en-US" dirty="0">
                <a:solidFill>
                  <a:schemeClr val="bg1"/>
                </a:solidFill>
                <a:latin typeface="Times New Roman" panose="02020603050405020304" pitchFamily="18" charset="0"/>
                <a:cs typeface="Times New Roman" panose="02020603050405020304" pitchFamily="18" charset="0"/>
              </a:rPr>
              <a:t>Most Nike products priced between RS.8000 and RS.12000 show the highest sales volume indicating strong customer preference for this price range. Sales decline significantly beyond RS.15000 suggesting reduced demand for higher priced products. </a:t>
            </a:r>
            <a:endParaRPr lang="en-IN"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524286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95765-3BCB-7F41-0FEB-4D3A4F6A08BF}"/>
              </a:ext>
            </a:extLst>
          </p:cNvPr>
          <p:cNvSpPr/>
          <p:nvPr/>
        </p:nvSpPr>
        <p:spPr>
          <a:xfrm>
            <a:off x="2071396" y="4870579"/>
            <a:ext cx="9050693" cy="111967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285750" indent="-285750" algn="just">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a:t>
            </a:r>
            <a:r>
              <a:rPr lang="en-US" b="1" dirty="0">
                <a:latin typeface="Times New Roman" panose="02020603050405020304" pitchFamily="18" charset="0"/>
                <a:cs typeface="Times New Roman" panose="02020603050405020304" pitchFamily="18" charset="0"/>
              </a:rPr>
              <a:t>Units Sold</a:t>
            </a:r>
            <a:r>
              <a:rPr lang="en-US" dirty="0">
                <a:latin typeface="Times New Roman" panose="02020603050405020304" pitchFamily="18" charset="0"/>
                <a:cs typeface="Times New Roman" panose="02020603050405020304" pitchFamily="18" charset="0"/>
              </a:rPr>
              <a:t>” column shows that most orders consisted of one unit with very few orders having higher quantities </a:t>
            </a:r>
            <a:endParaRPr lang="en-IN"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214F2988-5588-40E8-9960-3FA904EA21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4518" y="96253"/>
            <a:ext cx="11460480" cy="4572009"/>
          </a:xfrm>
          <a:prstGeom prst="rect">
            <a:avLst/>
          </a:prstGeom>
        </p:spPr>
      </p:pic>
    </p:spTree>
    <p:extLst>
      <p:ext uri="{BB962C8B-B14F-4D97-AF65-F5344CB8AC3E}">
        <p14:creationId xmlns:p14="http://schemas.microsoft.com/office/powerpoint/2010/main" val="42611324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a sales chart&#10;&#10;AI-generated content may be incorrect.">
            <a:extLst>
              <a:ext uri="{FF2B5EF4-FFF2-40B4-BE49-F238E27FC236}">
                <a16:creationId xmlns:a16="http://schemas.microsoft.com/office/drawing/2014/main" id="{4E448D65-D3AD-6D94-BBB2-D5CEB52DDB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047974" cy="4893547"/>
          </a:xfrm>
          <a:prstGeom prst="rect">
            <a:avLst/>
          </a:prstGeom>
          <a:noFill/>
        </p:spPr>
      </p:pic>
      <p:sp>
        <p:nvSpPr>
          <p:cNvPr id="6" name="Rectangle 5">
            <a:extLst>
              <a:ext uri="{FF2B5EF4-FFF2-40B4-BE49-F238E27FC236}">
                <a16:creationId xmlns:a16="http://schemas.microsoft.com/office/drawing/2014/main" id="{74EEA688-809B-FB08-1A06-3E3AF3E1BD6B}"/>
              </a:ext>
            </a:extLst>
          </p:cNvPr>
          <p:cNvSpPr/>
          <p:nvPr/>
        </p:nvSpPr>
        <p:spPr>
          <a:xfrm>
            <a:off x="2763296" y="5245240"/>
            <a:ext cx="8764316" cy="112541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dirty="0"/>
          </a:p>
        </p:txBody>
      </p:sp>
      <p:sp>
        <p:nvSpPr>
          <p:cNvPr id="2" name="Rectangle 1">
            <a:extLst>
              <a:ext uri="{FF2B5EF4-FFF2-40B4-BE49-F238E27FC236}">
                <a16:creationId xmlns:a16="http://schemas.microsoft.com/office/drawing/2014/main" id="{1ACDA279-6AB4-2EC7-D59A-CDFD5D174A8A}"/>
              </a:ext>
            </a:extLst>
          </p:cNvPr>
          <p:cNvSpPr/>
          <p:nvPr/>
        </p:nvSpPr>
        <p:spPr>
          <a:xfrm>
            <a:off x="3107094" y="5131837"/>
            <a:ext cx="8420518" cy="998375"/>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marL="285750" indent="-285750" algn="ctr">
              <a:buFont typeface="Wingdings" panose="05000000000000000000" pitchFamily="2" charset="2"/>
              <a:buChar char="Ø"/>
            </a:pPr>
            <a:r>
              <a:rPr lang="en-US" dirty="0">
                <a:latin typeface="Times New Roman" panose="02020603050405020304" pitchFamily="18" charset="0"/>
                <a:cs typeface="Times New Roman" panose="02020603050405020304" pitchFamily="18" charset="0"/>
              </a:rPr>
              <a:t>The analysis shows that product sizes 9,11 and 8 recorded highest sales indicating strong costumer preference for mid range sizes in contract smaller and larger sizes.</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20521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84C2E-6815-2D0F-D80F-6EE4FABD3E5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EEF73E9F-CBCA-468A-9096-92B69AFD03AB}"/>
              </a:ext>
            </a:extLst>
          </p:cNvPr>
          <p:cNvSpPr/>
          <p:nvPr/>
        </p:nvSpPr>
        <p:spPr>
          <a:xfrm>
            <a:off x="3368842" y="0"/>
            <a:ext cx="5390147" cy="73152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b="1" i="1" dirty="0">
                <a:latin typeface="Times New Roman" panose="02020603050405020304" pitchFamily="18" charset="0"/>
                <a:cs typeface="Times New Roman" panose="02020603050405020304" pitchFamily="18" charset="0"/>
              </a:rPr>
              <a:t>Insights &amp; Recommendations</a:t>
            </a:r>
            <a:r>
              <a:rPr lang="en-US" sz="2400" b="1" i="1" dirty="0"/>
              <a:t>:</a:t>
            </a:r>
          </a:p>
        </p:txBody>
      </p:sp>
      <p:sp>
        <p:nvSpPr>
          <p:cNvPr id="6" name="Rectangle 5">
            <a:extLst>
              <a:ext uri="{FF2B5EF4-FFF2-40B4-BE49-F238E27FC236}">
                <a16:creationId xmlns:a16="http://schemas.microsoft.com/office/drawing/2014/main" id="{B1E3F42A-563D-4DDE-8D8D-D25D3A980393}"/>
              </a:ext>
            </a:extLst>
          </p:cNvPr>
          <p:cNvSpPr/>
          <p:nvPr/>
        </p:nvSpPr>
        <p:spPr>
          <a:xfrm>
            <a:off x="0" y="572703"/>
            <a:ext cx="12192000" cy="731520"/>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Wingdings" panose="05000000000000000000" pitchFamily="2" charset="2"/>
              <a:buChar char="q"/>
            </a:pPr>
            <a:r>
              <a:rPr lang="en-US" sz="2400" b="1" dirty="0">
                <a:latin typeface="Times New Roman" panose="02020603050405020304" pitchFamily="18" charset="0"/>
                <a:cs typeface="Times New Roman" panose="02020603050405020304" pitchFamily="18" charset="0"/>
              </a:rPr>
              <a:t>Product Strategy</a:t>
            </a:r>
            <a:r>
              <a:rPr lang="en-US" dirty="0"/>
              <a:t>: </a:t>
            </a:r>
          </a:p>
        </p:txBody>
      </p:sp>
      <p:sp>
        <p:nvSpPr>
          <p:cNvPr id="7" name="Rectangle 6">
            <a:extLst>
              <a:ext uri="{FF2B5EF4-FFF2-40B4-BE49-F238E27FC236}">
                <a16:creationId xmlns:a16="http://schemas.microsoft.com/office/drawing/2014/main" id="{A04D354C-0367-4AF1-822A-2C2E725CFF4C}"/>
              </a:ext>
            </a:extLst>
          </p:cNvPr>
          <p:cNvSpPr/>
          <p:nvPr/>
        </p:nvSpPr>
        <p:spPr>
          <a:xfrm>
            <a:off x="712268" y="1231431"/>
            <a:ext cx="11479731" cy="88372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dirty="0"/>
              <a:t>Focus on Running and Lifestyle categories top revenue drivers.</a:t>
            </a:r>
          </a:p>
          <a:p>
            <a:pPr marL="285750" indent="-285750">
              <a:buFont typeface="Arial" panose="020B0604020202020204" pitchFamily="34" charset="0"/>
              <a:buChar char="•"/>
            </a:pPr>
            <a:r>
              <a:rPr lang="en-US" dirty="0"/>
              <a:t>Promote Kids and Football through targeted discounts and influencer marketing.</a:t>
            </a:r>
          </a:p>
          <a:p>
            <a:pPr marL="285750" indent="-285750">
              <a:buFont typeface="Arial" panose="020B0604020202020204" pitchFamily="34" charset="0"/>
              <a:buChar char="•"/>
            </a:pPr>
            <a:r>
              <a:rPr lang="en-US" dirty="0"/>
              <a:t>Strengthen mid-range(8K-12K) portfolio to match customer demand.</a:t>
            </a:r>
          </a:p>
        </p:txBody>
      </p:sp>
      <p:sp>
        <p:nvSpPr>
          <p:cNvPr id="8" name="Rectangle 7">
            <a:extLst>
              <a:ext uri="{FF2B5EF4-FFF2-40B4-BE49-F238E27FC236}">
                <a16:creationId xmlns:a16="http://schemas.microsoft.com/office/drawing/2014/main" id="{D477DB72-D421-423E-9384-6A6B17FEDCF6}"/>
              </a:ext>
            </a:extLst>
          </p:cNvPr>
          <p:cNvSpPr/>
          <p:nvPr/>
        </p:nvSpPr>
        <p:spPr>
          <a:xfrm>
            <a:off x="0" y="2070254"/>
            <a:ext cx="12086122" cy="416293"/>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342900" indent="-342900">
              <a:buFont typeface="Wingdings" panose="05000000000000000000" pitchFamily="2" charset="2"/>
              <a:buChar char="q"/>
            </a:pPr>
            <a:r>
              <a:rPr lang="en-US" sz="2400" b="1" dirty="0">
                <a:latin typeface="Times New Roman" panose="02020603050405020304" pitchFamily="18" charset="0"/>
                <a:cs typeface="Times New Roman" panose="02020603050405020304" pitchFamily="18" charset="0"/>
              </a:rPr>
              <a:t>Seasonal Sales Planning</a:t>
            </a:r>
            <a:r>
              <a:rPr lang="en-US" dirty="0"/>
              <a:t>:</a:t>
            </a:r>
          </a:p>
        </p:txBody>
      </p:sp>
      <p:sp>
        <p:nvSpPr>
          <p:cNvPr id="10" name="Rectangle 9">
            <a:extLst>
              <a:ext uri="{FF2B5EF4-FFF2-40B4-BE49-F238E27FC236}">
                <a16:creationId xmlns:a16="http://schemas.microsoft.com/office/drawing/2014/main" id="{106DF4BA-B94F-4BB3-8651-570ECD2AF8E3}"/>
              </a:ext>
            </a:extLst>
          </p:cNvPr>
          <p:cNvSpPr/>
          <p:nvPr/>
        </p:nvSpPr>
        <p:spPr>
          <a:xfrm>
            <a:off x="712268" y="2420616"/>
            <a:ext cx="11601652" cy="1149021"/>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dirty="0"/>
              <a:t>Revenue drops during May-July plan clearance or summer offers.</a:t>
            </a:r>
          </a:p>
          <a:p>
            <a:pPr marL="285750" indent="-285750">
              <a:buFont typeface="Arial" panose="020B0604020202020204" pitchFamily="34" charset="0"/>
              <a:buChar char="•"/>
            </a:pPr>
            <a:r>
              <a:rPr lang="en-US" dirty="0"/>
              <a:t>Peak in November-December- Increase stock and festival campaigns.</a:t>
            </a:r>
          </a:p>
          <a:p>
            <a:pPr marL="285750" indent="-285750">
              <a:buFont typeface="Arial" panose="020B0604020202020204" pitchFamily="34" charset="0"/>
              <a:buChar char="•"/>
            </a:pPr>
            <a:r>
              <a:rPr lang="en-US" dirty="0"/>
              <a:t>Use data analytics to improve seasonal demand forecasting.</a:t>
            </a:r>
          </a:p>
        </p:txBody>
      </p:sp>
      <p:sp>
        <p:nvSpPr>
          <p:cNvPr id="12" name="Rectangle 11">
            <a:extLst>
              <a:ext uri="{FF2B5EF4-FFF2-40B4-BE49-F238E27FC236}">
                <a16:creationId xmlns:a16="http://schemas.microsoft.com/office/drawing/2014/main" id="{71A59E4C-C945-42CC-8C2F-A80B53BC0D9B}"/>
              </a:ext>
            </a:extLst>
          </p:cNvPr>
          <p:cNvSpPr/>
          <p:nvPr/>
        </p:nvSpPr>
        <p:spPr>
          <a:xfrm>
            <a:off x="0" y="3603462"/>
            <a:ext cx="5678905" cy="193099"/>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342900" indent="-342900">
              <a:buFont typeface="Wingdings" panose="05000000000000000000" pitchFamily="2" charset="2"/>
              <a:buChar char="q"/>
            </a:pPr>
            <a:r>
              <a:rPr lang="en-US" sz="2400" b="1" dirty="0">
                <a:latin typeface="Times New Roman" panose="02020603050405020304" pitchFamily="18" charset="0"/>
                <a:cs typeface="Times New Roman" panose="02020603050405020304" pitchFamily="18" charset="0"/>
              </a:rPr>
              <a:t>Channel Performance:</a:t>
            </a:r>
          </a:p>
        </p:txBody>
      </p:sp>
      <p:sp>
        <p:nvSpPr>
          <p:cNvPr id="13" name="Rectangle 12">
            <a:extLst>
              <a:ext uri="{FF2B5EF4-FFF2-40B4-BE49-F238E27FC236}">
                <a16:creationId xmlns:a16="http://schemas.microsoft.com/office/drawing/2014/main" id="{871BD423-76CA-4378-A156-3200FF4557E5}"/>
              </a:ext>
            </a:extLst>
          </p:cNvPr>
          <p:cNvSpPr/>
          <p:nvPr/>
        </p:nvSpPr>
        <p:spPr>
          <a:xfrm>
            <a:off x="712268" y="4040978"/>
            <a:ext cx="11672237" cy="609393"/>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dirty="0"/>
              <a:t>Nike.com leads with~35% sales – optimize online promotions.</a:t>
            </a:r>
          </a:p>
          <a:p>
            <a:pPr marL="285750" indent="-285750">
              <a:buFont typeface="Arial" panose="020B0604020202020204" pitchFamily="34" charset="0"/>
              <a:buChar char="•"/>
            </a:pPr>
            <a:r>
              <a:rPr lang="en-US" dirty="0"/>
              <a:t>Nike App(5%) needs engagement via app-only offers.</a:t>
            </a:r>
          </a:p>
          <a:p>
            <a:pPr marL="285750" indent="-285750">
              <a:buFont typeface="Arial" panose="020B0604020202020204" pitchFamily="34" charset="0"/>
              <a:buChar char="•"/>
            </a:pPr>
            <a:r>
              <a:rPr lang="en-US" dirty="0"/>
              <a:t>Maintain balanced stock between online and retail stores.</a:t>
            </a:r>
          </a:p>
        </p:txBody>
      </p:sp>
      <p:sp>
        <p:nvSpPr>
          <p:cNvPr id="14" name="Rectangle 13">
            <a:extLst>
              <a:ext uri="{FF2B5EF4-FFF2-40B4-BE49-F238E27FC236}">
                <a16:creationId xmlns:a16="http://schemas.microsoft.com/office/drawing/2014/main" id="{F55B02C0-2884-4BBB-B045-DE441BCADB9E}"/>
              </a:ext>
            </a:extLst>
          </p:cNvPr>
          <p:cNvSpPr/>
          <p:nvPr/>
        </p:nvSpPr>
        <p:spPr>
          <a:xfrm>
            <a:off x="0" y="4913476"/>
            <a:ext cx="4726004" cy="377197"/>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342900" indent="-342900">
              <a:buFont typeface="Wingdings" panose="05000000000000000000" pitchFamily="2" charset="2"/>
              <a:buChar char="q"/>
            </a:pPr>
            <a:r>
              <a:rPr lang="en-US" sz="2400" b="1" dirty="0">
                <a:latin typeface="Times New Roman" panose="02020603050405020304" pitchFamily="18" charset="0"/>
                <a:cs typeface="Times New Roman" panose="02020603050405020304" pitchFamily="18" charset="0"/>
              </a:rPr>
              <a:t>Regional &amp; Pricing Focus:</a:t>
            </a:r>
          </a:p>
        </p:txBody>
      </p:sp>
      <p:sp>
        <p:nvSpPr>
          <p:cNvPr id="15" name="Rectangle 14">
            <a:extLst>
              <a:ext uri="{FF2B5EF4-FFF2-40B4-BE49-F238E27FC236}">
                <a16:creationId xmlns:a16="http://schemas.microsoft.com/office/drawing/2014/main" id="{4E238CA7-AE4E-4207-B583-EE146FFB7A87}"/>
              </a:ext>
            </a:extLst>
          </p:cNvPr>
          <p:cNvSpPr/>
          <p:nvPr/>
        </p:nvSpPr>
        <p:spPr>
          <a:xfrm>
            <a:off x="712268" y="5393150"/>
            <a:ext cx="9755204" cy="892147"/>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marL="285750" indent="-285750">
              <a:buFont typeface="Arial" panose="020B0604020202020204" pitchFamily="34" charset="0"/>
              <a:buChar char="•"/>
            </a:pPr>
            <a:r>
              <a:rPr lang="en-US" dirty="0"/>
              <a:t>Prioritize metro markets(Delhi, Bangalore, Mumbai) for higher ROI.</a:t>
            </a:r>
          </a:p>
          <a:p>
            <a:pPr marL="285750" indent="-285750">
              <a:buFont typeface="Arial" panose="020B0604020202020204" pitchFamily="34" charset="0"/>
              <a:buChar char="•"/>
            </a:pPr>
            <a:r>
              <a:rPr lang="en-US" dirty="0"/>
              <a:t>Expand reach in smaller cities through local promotions.</a:t>
            </a:r>
          </a:p>
          <a:p>
            <a:pPr marL="285750" indent="-285750">
              <a:buFont typeface="Arial" panose="020B0604020202020204" pitchFamily="34" charset="0"/>
              <a:buChar char="•"/>
            </a:pPr>
            <a:r>
              <a:rPr lang="en-US" dirty="0"/>
              <a:t>Maintain inventory in 8K- 12K range and sizes 8-11.</a:t>
            </a:r>
          </a:p>
        </p:txBody>
      </p:sp>
    </p:spTree>
    <p:extLst>
      <p:ext uri="{BB962C8B-B14F-4D97-AF65-F5344CB8AC3E}">
        <p14:creationId xmlns:p14="http://schemas.microsoft.com/office/powerpoint/2010/main" val="3732227857"/>
      </p:ext>
    </p:extLst>
  </p:cSld>
  <p:clrMapOvr>
    <a:masterClrMapping/>
  </p:clrMapOvr>
</p:sld>
</file>

<file path=ppt/theme/theme1.xml><?xml version="1.0" encoding="utf-8"?>
<a:theme xmlns:a="http://schemas.openxmlformats.org/drawingml/2006/main" name="Custom">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175">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853419_Win32_SL_V5" id="{958D2C9E-948D-4354-BF9D-DF8AE3C2B240}" vid="{22D4A967-05D2-4D72-8594-54CFF34148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CC783ECB53F814E96157D07BE095403" ma:contentTypeVersion="4" ma:contentTypeDescription="Create a new document." ma:contentTypeScope="" ma:versionID="8a367cdf2aeae741be539061c0da2132">
  <xsd:schema xmlns:xsd="http://www.w3.org/2001/XMLSchema" xmlns:xs="http://www.w3.org/2001/XMLSchema" xmlns:p="http://schemas.microsoft.com/office/2006/metadata/properties" xmlns:ns3="5212efac-b3ca-4026-9c7f-8b1936fe4fff" targetNamespace="http://schemas.microsoft.com/office/2006/metadata/properties" ma:root="true" ma:fieldsID="cb4ace312f53488b9bd3d5298c3eeec0" ns3:_="">
    <xsd:import namespace="5212efac-b3ca-4026-9c7f-8b1936fe4fff"/>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212efac-b3ca-4026-9c7f-8b1936fe4ff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F4B194E-8B30-4377-8C59-ECFB902D2A26}">
  <ds:schemaRefs>
    <ds:schemaRef ds:uri="http://www.w3.org/XML/1998/namespace"/>
    <ds:schemaRef ds:uri="http://schemas.microsoft.com/office/2006/documentManagement/types"/>
    <ds:schemaRef ds:uri="http://purl.org/dc/elements/1.1/"/>
    <ds:schemaRef ds:uri="http://purl.org/dc/dcmitype/"/>
    <ds:schemaRef ds:uri="http://schemas.microsoft.com/office/2006/metadata/properties"/>
    <ds:schemaRef ds:uri="5212efac-b3ca-4026-9c7f-8b1936fe4fff"/>
    <ds:schemaRef ds:uri="http://schemas.microsoft.com/office/infopath/2007/PartnerControls"/>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C21FFAC0-05A2-416A-B06C-C248395482CF}">
  <ds:schemaRefs>
    <ds:schemaRef ds:uri="http://schemas.microsoft.com/sharepoint/v3/contenttype/forms"/>
  </ds:schemaRefs>
</ds:datastoreItem>
</file>

<file path=customXml/itemProps3.xml><?xml version="1.0" encoding="utf-8"?>
<ds:datastoreItem xmlns:ds="http://schemas.openxmlformats.org/officeDocument/2006/customXml" ds:itemID="{D1FEAC53-8B95-4EF0-8171-7A2DFB25C4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212efac-b3ca-4026-9c7f-8b1936fe4ff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Geometric annual presentation</Template>
  <TotalTime>1475</TotalTime>
  <Words>727</Words>
  <Application>Microsoft Office PowerPoint</Application>
  <PresentationFormat>Widescreen</PresentationFormat>
  <Paragraphs>69</Paragraphs>
  <Slides>14</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Franklin Gothic Book</vt:lpstr>
      <vt:lpstr>Franklin Gothic Demi</vt:lpstr>
      <vt:lpstr>Times New Roman</vt:lpstr>
      <vt:lpstr>Wingdings</vt:lpstr>
      <vt:lpstr>Custom</vt:lpstr>
      <vt:lpstr>Business Problem</vt:lpstr>
      <vt:lpstr>Project Flow</vt:lpstr>
      <vt:lpstr>Most Nike sales revenue falls between 8000-12000 showing a  high concentration of mid-range sales. However, a few transaction reach beyond 1,00,000 indicating rare but reflecting lower demand for premium-priced products.</vt:lpstr>
      <vt:lpstr>Steady Growth(Jan-Apr)Sales start strong in the first quarter and keep rising till Apr showing early-year performance.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Problem</dc:title>
  <dc:creator>21121A04H8</dc:creator>
  <cp:lastModifiedBy>lokeshlm6485@gmail.com</cp:lastModifiedBy>
  <cp:revision>39</cp:revision>
  <dcterms:created xsi:type="dcterms:W3CDTF">2025-10-14T17:55:48Z</dcterms:created>
  <dcterms:modified xsi:type="dcterms:W3CDTF">2025-11-07T06:35:17Z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0x010100ACC783ECB53F814E96157D07BE095403</vt:lpwstr>
  </property>
</Properties>
</file>